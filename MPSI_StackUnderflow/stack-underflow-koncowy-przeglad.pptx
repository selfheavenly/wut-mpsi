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7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412" r:id="rId6"/>
    <p:sldId id="359" r:id="rId7"/>
    <p:sldId id="400" r:id="rId8"/>
    <p:sldId id="413" r:id="rId9"/>
    <p:sldId id="414" r:id="rId10"/>
    <p:sldId id="264" r:id="rId11"/>
    <p:sldId id="265" r:id="rId12"/>
    <p:sldId id="415" r:id="rId13"/>
    <p:sldId id="436" r:id="rId14"/>
    <p:sldId id="368" r:id="rId15"/>
    <p:sldId id="266" r:id="rId16"/>
    <p:sldId id="269" r:id="rId17"/>
    <p:sldId id="322" r:id="rId18"/>
    <p:sldId id="416" r:id="rId19"/>
    <p:sldId id="270" r:id="rId20"/>
    <p:sldId id="417" r:id="rId21"/>
    <p:sldId id="418" r:id="rId22"/>
    <p:sldId id="324" r:id="rId23"/>
    <p:sldId id="401" r:id="rId24"/>
    <p:sldId id="331" r:id="rId25"/>
    <p:sldId id="396" r:id="rId26"/>
    <p:sldId id="339" r:id="rId27"/>
    <p:sldId id="419" r:id="rId28"/>
    <p:sldId id="420" r:id="rId29"/>
    <p:sldId id="340" r:id="rId30"/>
    <p:sldId id="402" r:id="rId31"/>
    <p:sldId id="403" r:id="rId32"/>
    <p:sldId id="422" r:id="rId33"/>
    <p:sldId id="423" r:id="rId34"/>
    <p:sldId id="424" r:id="rId35"/>
    <p:sldId id="421" r:id="rId36"/>
    <p:sldId id="425" r:id="rId37"/>
    <p:sldId id="426" r:id="rId38"/>
    <p:sldId id="427" r:id="rId39"/>
    <p:sldId id="428" r:id="rId40"/>
    <p:sldId id="429" r:id="rId41"/>
    <p:sldId id="430" r:id="rId42"/>
    <p:sldId id="431" r:id="rId43"/>
    <p:sldId id="432" r:id="rId44"/>
    <p:sldId id="433" r:id="rId45"/>
    <p:sldId id="434" r:id="rId46"/>
    <p:sldId id="435" r:id="rId47"/>
    <p:sldId id="397" r:id="rId48"/>
    <p:sldId id="437" r:id="rId49"/>
    <p:sldId id="405" r:id="rId50"/>
    <p:sldId id="438" r:id="rId51"/>
    <p:sldId id="406" r:id="rId52"/>
    <p:sldId id="409" r:id="rId53"/>
    <p:sldId id="410" r:id="rId54"/>
    <p:sldId id="411" r:id="rId55"/>
    <p:sldId id="439" r:id="rId56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anose="02020603050405020304" pitchFamily="18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ECF9B"/>
    <a:srgbClr val="CCEDDF"/>
    <a:srgbClr val="E7F7EF"/>
    <a:srgbClr val="BFDE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887" autoAdjust="0"/>
    <p:restoredTop sz="96327" autoAdjust="0"/>
  </p:normalViewPr>
  <p:slideViewPr>
    <p:cSldViewPr>
      <p:cViewPr>
        <p:scale>
          <a:sx n="136" d="100"/>
          <a:sy n="136" d="100"/>
        </p:scale>
        <p:origin x="1160" y="712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187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>
            <a:extLst>
              <a:ext uri="{FF2B5EF4-FFF2-40B4-BE49-F238E27FC236}">
                <a16:creationId xmlns:a16="http://schemas.microsoft.com/office/drawing/2014/main" id="{69442F4B-E499-348B-61F8-53150BE1B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buFont typeface="Times New Roman" pitchFamily="16" charset="0"/>
              <a:buNone/>
              <a:defRPr/>
            </a:pPr>
            <a:endParaRPr lang="pl-PL" dirty="0">
              <a:latin typeface="Times New Roman" pitchFamily="16" charset="0"/>
              <a:cs typeface="Lucida Sans Unicode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11A02707-66BE-3C9C-C3B4-40B83B44EBEC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1798300" y="-11796713"/>
            <a:ext cx="11796712" cy="12490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2D3B3F3-2368-4FE1-102E-526FD730116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3225" cy="4111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pl-PL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">
            <a:extLst>
              <a:ext uri="{FF2B5EF4-FFF2-40B4-BE49-F238E27FC236}">
                <a16:creationId xmlns:a16="http://schemas.microsoft.com/office/drawing/2014/main" id="{3B9B6535-499C-EC5D-F772-0C5DFE848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24DA0FD-7B61-5055-256C-4AE4C700E37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>
            <a:extLst>
              <a:ext uri="{FF2B5EF4-FFF2-40B4-BE49-F238E27FC236}">
                <a16:creationId xmlns:a16="http://schemas.microsoft.com/office/drawing/2014/main" id="{1D95A23A-D7F7-7D97-743B-F8A5C4496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1DF7929F-6A48-1202-C01E-92307DFC84F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1">
            <a:extLst>
              <a:ext uri="{FF2B5EF4-FFF2-40B4-BE49-F238E27FC236}">
                <a16:creationId xmlns:a16="http://schemas.microsoft.com/office/drawing/2014/main" id="{DE56A036-0B87-F89A-DD2F-54A0F9AF4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BED893E5-9563-86A7-35BF-9D16D1AACA5F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>
            <a:extLst>
              <a:ext uri="{FF2B5EF4-FFF2-40B4-BE49-F238E27FC236}">
                <a16:creationId xmlns:a16="http://schemas.microsoft.com/office/drawing/2014/main" id="{9AF86534-D545-73BE-B7F5-EE3A360FC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CD78711D-7FBA-E0CD-A477-94DECF367DB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AA75F-4352-D6B8-997B-B5ABBEC3F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>
            <a:extLst>
              <a:ext uri="{FF2B5EF4-FFF2-40B4-BE49-F238E27FC236}">
                <a16:creationId xmlns:a16="http://schemas.microsoft.com/office/drawing/2014/main" id="{2035DAD6-6860-48DB-103B-1119F9690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4757082-1136-ECEF-01F1-1AB7675BC0B8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573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1">
            <a:extLst>
              <a:ext uri="{FF2B5EF4-FFF2-40B4-BE49-F238E27FC236}">
                <a16:creationId xmlns:a16="http://schemas.microsoft.com/office/drawing/2014/main" id="{10093DBE-74F7-61FA-8647-001ADEDAF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239C43E8-3C65-4078-3227-4398D7F5F94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>
            <a:extLst>
              <a:ext uri="{FF2B5EF4-FFF2-40B4-BE49-F238E27FC236}">
                <a16:creationId xmlns:a16="http://schemas.microsoft.com/office/drawing/2014/main" id="{49E73FFD-7CB2-3B62-CD53-9FCC7789F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647D4A45-21D6-C81F-6505-138FD98ADAB3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38C04-2EEC-E654-2281-6FF52320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>
            <a:extLst>
              <a:ext uri="{FF2B5EF4-FFF2-40B4-BE49-F238E27FC236}">
                <a16:creationId xmlns:a16="http://schemas.microsoft.com/office/drawing/2014/main" id="{36CACD3D-28A1-914E-F6AA-AAE7FC21B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27075DC-E9FD-414D-7B9A-FC72E64CC26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009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AE833-9F74-41C0-9C99-96D297A3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>
            <a:extLst>
              <a:ext uri="{FF2B5EF4-FFF2-40B4-BE49-F238E27FC236}">
                <a16:creationId xmlns:a16="http://schemas.microsoft.com/office/drawing/2014/main" id="{69E83C56-2C9C-CE87-64A4-9B9B5A92A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409EA45C-8E1D-1321-5BAD-41CD1E139D22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3466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1">
            <a:extLst>
              <a:ext uri="{FF2B5EF4-FFF2-40B4-BE49-F238E27FC236}">
                <a16:creationId xmlns:a16="http://schemas.microsoft.com/office/drawing/2014/main" id="{0AE2DC22-447A-61BF-DB07-6633252B1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0036A093-1D75-B589-7293-106D83BF56C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>
            <a:extLst>
              <a:ext uri="{FF2B5EF4-FFF2-40B4-BE49-F238E27FC236}">
                <a16:creationId xmlns:a16="http://schemas.microsoft.com/office/drawing/2014/main" id="{22B2DED5-4484-46AC-68F1-1F62A26CE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369DE71D-37AF-EE07-0008-F3594FC96F7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1">
            <a:extLst>
              <a:ext uri="{FF2B5EF4-FFF2-40B4-BE49-F238E27FC236}">
                <a16:creationId xmlns:a16="http://schemas.microsoft.com/office/drawing/2014/main" id="{534210F4-DE45-82F7-EDBC-5F0F1D0D5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0"/>
            <a:ext cx="1587" cy="15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44190F3C-69A2-FE1C-C244-FA4ACA39E93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>
            <a:extLst>
              <a:ext uri="{FF2B5EF4-FFF2-40B4-BE49-F238E27FC236}">
                <a16:creationId xmlns:a16="http://schemas.microsoft.com/office/drawing/2014/main" id="{504061AA-A3E5-2765-530A-42C8AD7D6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0"/>
            <a:ext cx="1587" cy="15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B95D543-AEE3-8479-2926-D655AACF16F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AFA99-629E-8877-DA20-480F9E6F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>
            <a:extLst>
              <a:ext uri="{FF2B5EF4-FFF2-40B4-BE49-F238E27FC236}">
                <a16:creationId xmlns:a16="http://schemas.microsoft.com/office/drawing/2014/main" id="{4C79D593-1353-2D03-DE42-85D94F971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0"/>
            <a:ext cx="1587" cy="15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93B838AE-A62E-A245-008A-D494EA0524FA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707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BC9BDC-9C90-9D3B-C266-EB043273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>
            <a:extLst>
              <a:ext uri="{FF2B5EF4-FFF2-40B4-BE49-F238E27FC236}">
                <a16:creationId xmlns:a16="http://schemas.microsoft.com/office/drawing/2014/main" id="{7628C80C-E997-F5A6-6956-7A63A1FC6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8" y="0"/>
            <a:ext cx="1587" cy="15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83574CD-A3DA-76C6-E6F1-00CF85EB8F2C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254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1">
            <a:extLst>
              <a:ext uri="{FF2B5EF4-FFF2-40B4-BE49-F238E27FC236}">
                <a16:creationId xmlns:a16="http://schemas.microsoft.com/office/drawing/2014/main" id="{3E1FD512-508C-81BE-9A08-8E097726D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1B5EC21-2B6B-AAEC-AB46-17480B07317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>
            <a:extLst>
              <a:ext uri="{FF2B5EF4-FFF2-40B4-BE49-F238E27FC236}">
                <a16:creationId xmlns:a16="http://schemas.microsoft.com/office/drawing/2014/main" id="{CCF31A7E-FFE8-1D9C-50C5-D5A100EEB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695325"/>
            <a:ext cx="25717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l-PL" altLang="pl-PL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E83F2AE7-D114-DEDC-22AD-F587F50F1154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l-PL" altLang="pl-PL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ytuł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7" name="Podtytuł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2" name="Symbol zastępczy daty 29">
            <a:extLst>
              <a:ext uri="{FF2B5EF4-FFF2-40B4-BE49-F238E27FC236}">
                <a16:creationId xmlns:a16="http://schemas.microsoft.com/office/drawing/2014/main" id="{16B9D9CE-A61A-13D1-10F7-C3648E98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8AC405-AABD-3147-BE3F-85DF84C3E108}" type="datetimeFigureOut">
              <a:rPr lang="en-US"/>
              <a:pPr>
                <a:defRPr/>
              </a:pPr>
              <a:t>4/6/26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ymbol zastępczy stopki 18">
            <a:extLst>
              <a:ext uri="{FF2B5EF4-FFF2-40B4-BE49-F238E27FC236}">
                <a16:creationId xmlns:a16="http://schemas.microsoft.com/office/drawing/2014/main" id="{11A20420-6707-7A6C-062E-307D15A43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ymbol zastępczy numeru slajdu 26">
            <a:extLst>
              <a:ext uri="{FF2B5EF4-FFF2-40B4-BE49-F238E27FC236}">
                <a16:creationId xmlns:a16="http://schemas.microsoft.com/office/drawing/2014/main" id="{0F16C778-855E-03DA-274D-1139E2527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BA6A66F-1E1E-C643-9A6D-7A38A5115FA1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2265899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796B0C4-EADF-79A9-6D61-4C75A930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5508B-B45E-6F4A-B0DC-5BB32248C27E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8617CB5-3D6F-80EE-50A8-1E71F89B9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332879B-15BC-99EC-D76B-7F42E220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C4254-493B-1D49-8C38-198CD65918E4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374524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F35C0DC-BDD5-872B-782C-1AC75016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AC495E-8E35-F140-93CF-3872EA0C79D3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3F50309-7CE5-4EB8-0244-A969BAE82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D4927E9-D2C9-FE97-4A8C-36C91E7A7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C562DC62-CC5E-2640-8A46-F5E747A6B247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118927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374AE1A-301D-C016-6529-07D55F0C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2620B-E177-A848-A40B-B3415E024303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CF638EE-0353-930A-044F-14277710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CD39845-BE7A-CA0F-1977-5AFF67234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DB9C93-B851-1F46-823D-9081D75917CA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364073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zawartości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9F7EDDE-A81E-878A-7784-E6427A05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B40A9-4EC1-C845-94A2-AD439E3154A1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13BED7D-1157-1496-9862-373CF74B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81782E7-DFA5-8B04-5ECA-57C6145F0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C589A7-5CBC-604C-9E47-06A19A8B5D1D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13842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808EF24-8132-E746-47C8-C47AE60A2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7FFFC5-294C-CE47-9695-C503B74BCD15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49396CA2-E32C-1305-99F0-4EF2FA5C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808995CF-230C-D861-70C9-E4D58E85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DD1E4E-A0EB-3242-8116-A361F9D67D5F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243294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0DBC1FFA-78E1-A46A-60E2-50AA1DAB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F5994C-52BD-8045-8EAA-021D24EBD3F2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270E23E-F520-8ED3-F8F4-46CFB1B12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8F1AAAE-C3F5-31DD-DB52-93F1C0B73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0D0914-8FB2-5741-8489-4D28B00F7510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237170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A155029-3EDF-617C-ADDA-1DBA15DF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B9EAE-80E8-FF4C-94F6-D88EAAC6E318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4E6A8A4-4D4C-1230-F6EA-89304D842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53FB844-E190-91EA-CFB0-2FDC79FB2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DA8ED9-0E6B-4244-92A8-C834719EB0B0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221248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stokąt ze ściętym i zaokrąglonym rogiem 13">
            <a:extLst>
              <a:ext uri="{FF2B5EF4-FFF2-40B4-BE49-F238E27FC236}">
                <a16:creationId xmlns:a16="http://schemas.microsoft.com/office/drawing/2014/main" id="{C99F448D-D3FE-4082-0DC1-91001685CC21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Trójkąt prostokątny 5">
            <a:extLst>
              <a:ext uri="{FF2B5EF4-FFF2-40B4-BE49-F238E27FC236}">
                <a16:creationId xmlns:a16="http://schemas.microsoft.com/office/drawing/2014/main" id="{B9071AAE-57FE-A157-7C9A-7B8FEF36E00C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Dowolny kształt 6">
            <a:extLst>
              <a:ext uri="{FF2B5EF4-FFF2-40B4-BE49-F238E27FC236}">
                <a16:creationId xmlns:a16="http://schemas.microsoft.com/office/drawing/2014/main" id="{AD782778-45B0-A46C-A232-3B2AF646ADED}"/>
              </a:ext>
            </a:extLst>
          </p:cNvPr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8" name="Dowolny kształt 7">
            <a:extLst>
              <a:ext uri="{FF2B5EF4-FFF2-40B4-BE49-F238E27FC236}">
                <a16:creationId xmlns:a16="http://schemas.microsoft.com/office/drawing/2014/main" id="{6E132CA8-2EFC-47F2-AFD4-BFC21B4C25F9}"/>
              </a:ext>
            </a:extLst>
          </p:cNvPr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pl-PL" noProof="0" dirty="0"/>
              <a:t>Kliknij ikonę, aby dodać obraz</a:t>
            </a:r>
            <a:endParaRPr lang="en-US" noProof="0" dirty="0"/>
          </a:p>
        </p:txBody>
      </p:sp>
      <p:sp>
        <p:nvSpPr>
          <p:cNvPr id="9" name="Symbol zastępczy daty 4">
            <a:extLst>
              <a:ext uri="{FF2B5EF4-FFF2-40B4-BE49-F238E27FC236}">
                <a16:creationId xmlns:a16="http://schemas.microsoft.com/office/drawing/2014/main" id="{D8EFA3F7-D61C-1E59-BA30-7AFB5F8BB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2AE3F-C879-AA4C-A5A9-31BFC4A05B61}" type="datetimeFigureOut">
              <a:rPr lang="en-US"/>
              <a:pPr>
                <a:defRPr/>
              </a:pPr>
              <a:t>4/6/26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ymbol zastępczy stopki 5">
            <a:extLst>
              <a:ext uri="{FF2B5EF4-FFF2-40B4-BE49-F238E27FC236}">
                <a16:creationId xmlns:a16="http://schemas.microsoft.com/office/drawing/2014/main" id="{79989DF7-97C7-9C54-8906-F3F8297FF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ymbol zastępczy numeru slajdu 6">
            <a:extLst>
              <a:ext uri="{FF2B5EF4-FFF2-40B4-BE49-F238E27FC236}">
                <a16:creationId xmlns:a16="http://schemas.microsoft.com/office/drawing/2014/main" id="{29013D44-DD15-CB66-7984-C5D07A6D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fld id="{C22A75C4-DAFF-704A-86B0-FE0A060F9BCC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355797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22104B4-88DE-2841-FB25-4ADD9BB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5EBF69-11DF-8745-A79A-E6CCB6A209DB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FD19B60-3B7C-92D5-6C17-8EAFAAB96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789240E-4112-01B4-ED79-62C84E23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2CEAE-9820-2540-B3AA-A53CBAC59247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1336397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D871C7-7E13-0E4C-3E9D-69900566D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1921-507C-834A-99CC-688D8EAF1854}" type="datetimeFigureOut">
              <a:rPr lang="en-US"/>
              <a:pPr>
                <a:defRPr/>
              </a:pPr>
              <a:t>4/6/26</a:t>
            </a:fld>
            <a:endParaRPr lang="en-US" dirty="0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E73C379-4832-879C-9D4F-1F083D1B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0A8A532-FB1E-8905-E9CC-8E2401C70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3035CB-D577-8440-AA68-CF49FD5542CE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917545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kład niestandard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85800" y="463550"/>
            <a:ext cx="7769225" cy="1431925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DCE5051-23C3-63EC-E84D-F99C832C456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fld id="{704A11A4-ECA1-864E-B703-2EA5D3A51DAE}" type="slidenum">
              <a:rPr lang="en-GB" altLang="pl-PL"/>
              <a:pPr/>
              <a:t>‹#›</a:t>
            </a:fld>
            <a:endParaRPr lang="en-GB" altLang="pl-PL"/>
          </a:p>
        </p:txBody>
      </p:sp>
    </p:spTree>
    <p:extLst>
      <p:ext uri="{BB962C8B-B14F-4D97-AF65-F5344CB8AC3E}">
        <p14:creationId xmlns:p14="http://schemas.microsoft.com/office/powerpoint/2010/main" val="85730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wolny kształt 6">
            <a:extLst>
              <a:ext uri="{FF2B5EF4-FFF2-40B4-BE49-F238E27FC236}">
                <a16:creationId xmlns:a16="http://schemas.microsoft.com/office/drawing/2014/main" id="{FA517AB7-1839-9CF6-AECB-D080BE490FC3}"/>
              </a:ext>
            </a:extLst>
          </p:cNvPr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8" name="Dowolny kształt 7">
            <a:extLst>
              <a:ext uri="{FF2B5EF4-FFF2-40B4-BE49-F238E27FC236}">
                <a16:creationId xmlns:a16="http://schemas.microsoft.com/office/drawing/2014/main" id="{68CBB023-D857-AAA5-B625-3CE13CFD7CFF}"/>
              </a:ext>
            </a:extLst>
          </p:cNvPr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tx1"/>
              </a:solidFill>
              <a:latin typeface="+mn-lt"/>
              <a:cs typeface="+mn-cs"/>
            </a:endParaRPr>
          </a:p>
        </p:txBody>
      </p:sp>
      <p:sp>
        <p:nvSpPr>
          <p:cNvPr id="1028" name="Symbol zastępczy tytułu 8">
            <a:extLst>
              <a:ext uri="{FF2B5EF4-FFF2-40B4-BE49-F238E27FC236}">
                <a16:creationId xmlns:a16="http://schemas.microsoft.com/office/drawing/2014/main" id="{C3C724F5-DC8C-44DB-309B-6CEDFA2E459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1029" name="Symbol zastępczy tekstu 29">
            <a:extLst>
              <a:ext uri="{FF2B5EF4-FFF2-40B4-BE49-F238E27FC236}">
                <a16:creationId xmlns:a16="http://schemas.microsoft.com/office/drawing/2014/main" id="{51AE341B-D74F-76AE-867E-4A2C4A7A75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10" name="Symbol zastępczy daty 9">
            <a:extLst>
              <a:ext uri="{FF2B5EF4-FFF2-40B4-BE49-F238E27FC236}">
                <a16:creationId xmlns:a16="http://schemas.microsoft.com/office/drawing/2014/main" id="{1D72DEA9-09D6-BFC0-822B-85014A89F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  <a:ea typeface="+mn-ea"/>
              </a:defRPr>
            </a:lvl1pPr>
          </a:lstStyle>
          <a:p>
            <a:pPr>
              <a:defRPr/>
            </a:pPr>
            <a:fld id="{32C0E6A0-3663-6543-AF3C-A05D8AA41175}" type="datetimeFigureOut">
              <a:rPr lang="en-US"/>
              <a:pPr>
                <a:defRPr/>
              </a:pPr>
              <a:t>4/6/26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2" name="Symbol zastępczy stopki 21">
            <a:extLst>
              <a:ext uri="{FF2B5EF4-FFF2-40B4-BE49-F238E27FC236}">
                <a16:creationId xmlns:a16="http://schemas.microsoft.com/office/drawing/2014/main" id="{5A32AC5B-657D-5253-386C-B233F519E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ymbol zastępczy numeru slajdu 17">
            <a:extLst>
              <a:ext uri="{FF2B5EF4-FFF2-40B4-BE49-F238E27FC236}">
                <a16:creationId xmlns:a16="http://schemas.microsoft.com/office/drawing/2014/main" id="{FEDE2025-4CB6-1A9A-8D8C-3BBB41620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45C75"/>
                </a:solidFill>
              </a:defRPr>
            </a:lvl1pPr>
          </a:lstStyle>
          <a:p>
            <a:fld id="{B1AEB6F7-F924-0D48-BBD8-F21BFF5FD934}" type="slidenum">
              <a:rPr lang="en-GB" altLang="pl-PL"/>
              <a:pPr/>
              <a:t>‹#›</a:t>
            </a:fld>
            <a:endParaRPr lang="en-GB" altLang="pl-PL"/>
          </a:p>
        </p:txBody>
      </p:sp>
      <p:grpSp>
        <p:nvGrpSpPr>
          <p:cNvPr id="1033" name="Grupa 1">
            <a:extLst>
              <a:ext uri="{FF2B5EF4-FFF2-40B4-BE49-F238E27FC236}">
                <a16:creationId xmlns:a16="http://schemas.microsoft.com/office/drawing/2014/main" id="{3D49DA29-D313-A2CC-B4D6-E95C60F21358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Dowolny kształt 11">
              <a:extLst>
                <a:ext uri="{FF2B5EF4-FFF2-40B4-BE49-F238E27FC236}">
                  <a16:creationId xmlns:a16="http://schemas.microsoft.com/office/drawing/2014/main" id="{39129523-BB51-F9BE-CA97-7BC2B8C206F2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13" name="Dowolny kształt 12">
              <a:extLst>
                <a:ext uri="{FF2B5EF4-FFF2-40B4-BE49-F238E27FC236}">
                  <a16:creationId xmlns:a16="http://schemas.microsoft.com/office/drawing/2014/main" id="{04399415-5624-B28A-E0C3-207359744C32}"/>
                </a:ext>
              </a:extLst>
            </p:cNvPr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2" r:id="rId1"/>
    <p:sldLayoutId id="2147484073" r:id="rId2"/>
    <p:sldLayoutId id="2147484074" r:id="rId3"/>
    <p:sldLayoutId id="2147484075" r:id="rId4"/>
    <p:sldLayoutId id="2147484076" r:id="rId5"/>
    <p:sldLayoutId id="2147484077" r:id="rId6"/>
    <p:sldLayoutId id="2147484078" r:id="rId7"/>
    <p:sldLayoutId id="2147484079" r:id="rId8"/>
    <p:sldLayoutId id="2147484080" r:id="rId9"/>
    <p:sldLayoutId id="2147484081" r:id="rId10"/>
    <p:sldLayoutId id="2147484082" r:id="rId11"/>
    <p:sldLayoutId id="214748408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itchFamily="2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itchFamily="2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itchFamily="2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itchFamily="2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itchFamily="2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id="{19B0FAD0-9D05-DDEB-0A41-A2C261A27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92868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4400" dirty="0">
                <a:solidFill>
                  <a:srgbClr val="0B5395"/>
                </a:solidFill>
                <a:latin typeface="Calibri" panose="020F0502020204030204" pitchFamily="34" charset="0"/>
              </a:rPr>
              <a:t>Końcowy przegląd projektu</a:t>
            </a:r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8E6284D7-4263-31C5-5F8F-8364B4069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428875"/>
            <a:ext cx="8143875" cy="397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l-PL" b="1" dirty="0">
                <a:solidFill>
                  <a:schemeClr val="tx1"/>
                </a:solidFill>
              </a:rPr>
              <a:t>Nazwa projektu: </a:t>
            </a:r>
            <a:r>
              <a:rPr lang="pl-PL" dirty="0">
                <a:solidFill>
                  <a:schemeClr val="tx1"/>
                </a:solidFill>
              </a:rPr>
              <a:t>System Helpdesk.</a:t>
            </a:r>
          </a:p>
          <a:p>
            <a:pPr eaLnBrk="1" hangingPunct="1">
              <a:spcBef>
                <a:spcPts val="600"/>
              </a:spcBef>
            </a:pPr>
            <a:endParaRPr lang="pl-PL" dirty="0">
              <a:solidFill>
                <a:srgbClr val="00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pl-PL" b="1" dirty="0">
                <a:solidFill>
                  <a:srgbClr val="000000"/>
                </a:solidFill>
              </a:rPr>
              <a:t>Zespół wykonawcy w składzie: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dirty="0">
                <a:solidFill>
                  <a:srgbClr val="000000"/>
                </a:solidFill>
              </a:rPr>
              <a:t>Wiktor Konieczny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dirty="0">
                <a:solidFill>
                  <a:srgbClr val="000000"/>
                </a:solidFill>
              </a:rPr>
              <a:t>Kamil Sobierajski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dirty="0">
                <a:solidFill>
                  <a:srgbClr val="000000"/>
                </a:solidFill>
              </a:rPr>
              <a:t>Kamil Urbaś </a:t>
            </a:r>
            <a:r>
              <a:rPr lang="pl-PL" i="1" dirty="0">
                <a:solidFill>
                  <a:srgbClr val="000000"/>
                </a:solidFill>
              </a:rPr>
              <a:t>(Kierownik Zespołu)</a:t>
            </a:r>
          </a:p>
          <a:p>
            <a:pPr eaLnBrk="1" hangingPunct="1">
              <a:spcBef>
                <a:spcPts val="600"/>
              </a:spcBef>
            </a:pPr>
            <a:r>
              <a:rPr lang="pl-PL" dirty="0">
                <a:solidFill>
                  <a:srgbClr val="000000"/>
                </a:solidFill>
              </a:rPr>
              <a:t>	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">
            <a:extLst>
              <a:ext uri="{FF2B5EF4-FFF2-40B4-BE49-F238E27FC236}">
                <a16:creationId xmlns:a16="http://schemas.microsoft.com/office/drawing/2014/main" id="{F3915DF8-5AD5-8651-09DE-73A23FF14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2800" dirty="0">
                <a:solidFill>
                  <a:srgbClr val="0B5395"/>
                </a:solidFill>
                <a:latin typeface="Calibri" panose="020F0502020204030204" pitchFamily="34" charset="0"/>
              </a:rPr>
              <a:t>Krótka charakterystyka organizacji zamawiającego</a:t>
            </a:r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3818C750-0D09-8967-4897-7B352DFE8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571625"/>
            <a:ext cx="7772400" cy="429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39725" indent="-339725" eaLnBrk="0" hangingPunct="0"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9725" algn="l"/>
                <a:tab pos="787400" algn="l"/>
                <a:tab pos="1236663" algn="l"/>
                <a:tab pos="1685925" algn="l"/>
                <a:tab pos="2135188" algn="l"/>
                <a:tab pos="2584450" algn="l"/>
                <a:tab pos="3033713" algn="l"/>
                <a:tab pos="3482975" algn="l"/>
                <a:tab pos="3932238" algn="l"/>
                <a:tab pos="4381500" algn="l"/>
                <a:tab pos="4830763" algn="l"/>
                <a:tab pos="5280025" algn="l"/>
                <a:tab pos="5729288" algn="l"/>
                <a:tab pos="6178550" algn="l"/>
                <a:tab pos="6627813" algn="l"/>
                <a:tab pos="7077075" algn="l"/>
                <a:tab pos="7526338" algn="l"/>
                <a:tab pos="7975600" algn="l"/>
                <a:tab pos="8424863" algn="l"/>
                <a:tab pos="8874125" algn="l"/>
                <a:tab pos="9323388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400"/>
              </a:spcBef>
              <a:buFont typeface="Times New Roman" panose="02020603050405020304" pitchFamily="18" charset="0"/>
              <a:buChar char="•"/>
            </a:pPr>
            <a:r>
              <a:rPr lang="pl-PL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Zamawiającym jest firma </a:t>
            </a:r>
            <a:r>
              <a:rPr lang="pl-PL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pl-PL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Underflow</a:t>
            </a:r>
            <a:endParaRPr lang="pl-PL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400"/>
              </a:spcBef>
              <a:buFont typeface="Times New Roman" panose="02020603050405020304" pitchFamily="18" charset="0"/>
              <a:buChar char="•"/>
            </a:pPr>
            <a:r>
              <a:rPr lang="pl-PL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r>
              <a:rPr lang="pl-PL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Underflow</a:t>
            </a:r>
            <a:r>
              <a:rPr lang="pl-PL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jest dynamicznie rozwijającym się Software </a:t>
            </a:r>
            <a:r>
              <a:rPr lang="pl-PL" sz="16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House’m</a:t>
            </a:r>
            <a:r>
              <a:rPr lang="pl-PL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który w ostatnim czasie wielokrotnie zwiększył liczebność swoich pracowników.</a:t>
            </a:r>
          </a:p>
          <a:p>
            <a:pPr eaLnBrk="1" hangingPunct="1">
              <a:spcBef>
                <a:spcPts val="400"/>
              </a:spcBef>
              <a:buFont typeface="Times New Roman" panose="02020603050405020304" pitchFamily="18" charset="0"/>
              <a:buChar char="•"/>
            </a:pPr>
            <a:r>
              <a:rPr lang="pl-PL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Głównym obszarem działalności jest </a:t>
            </a:r>
            <a:r>
              <a:rPr lang="pl-PL" sz="16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realizacja zewnętrznych projektów informatycznych</a:t>
            </a:r>
            <a:r>
              <a:rPr lang="pl-PL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przede wszystkim oprogramowania w postaci serwisów internetowych oraz natywnych aplikacji użytkownika.</a:t>
            </a:r>
            <a:br>
              <a:rPr lang="pl-PL" sz="16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l-PL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ts val="275"/>
              </a:spcBef>
              <a:buClrTx/>
              <a:buSzTx/>
              <a:buFontTx/>
              <a:buNone/>
            </a:pPr>
            <a:endParaRPr lang="pl-PL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>
            <a:extLst>
              <a:ext uri="{FF2B5EF4-FFF2-40B4-BE49-F238E27FC236}">
                <a16:creationId xmlns:a16="http://schemas.microsoft.com/office/drawing/2014/main" id="{0C72409D-D1E0-17C6-7C88-8AA3635EC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44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Cel projektu</a:t>
            </a:r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A9AEC01B-818E-802B-C1A6-BD75380C5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81200"/>
            <a:ext cx="80295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450"/>
              </a:spcBef>
            </a:pPr>
            <a:r>
              <a:rPr lang="pl-PL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Celem projektu jest zbudowanie </a:t>
            </a:r>
            <a:r>
              <a:rPr lang="pl-PL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systemu do zarządzania sprzętem elektronicznym</a:t>
            </a:r>
            <a:r>
              <a:rPr lang="pl-PL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udostępnianym pracownikom firmy w celu wykonywania obowiązków (w tym przede wszystkim pracy w trybie zdalnym).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id="{1EADFBF1-19B5-E667-C9FC-E68DF3D7E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28625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3200" dirty="0">
                <a:solidFill>
                  <a:srgbClr val="0B5395"/>
                </a:solidFill>
                <a:latin typeface="Calibri" panose="020F0502020204030204" pitchFamily="34" charset="0"/>
              </a:rPr>
              <a:t>Żądania Zamawiającego</a:t>
            </a: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4626D900-E4F6-3549-2D94-EBEB7E227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428750"/>
            <a:ext cx="77724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1: Ewidencja i edycja zasobów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Możliwość dodawania oraz modyfikacji urządzeń w bazie danych z obowiązkowym przypisaniem unikalnego kodu inwentarzowego dla każdego przedmiotu.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2: Kategoryzacja sprzętu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Klasyfikacja wprowadzanych urządzeń według ściśle określonych standardów i kategorii przyjętych w organizacji.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3: Zarządzanie cyklem życia (</a:t>
            </a:r>
            <a:r>
              <a:rPr lang="pl-PL" sz="13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</a:t>
            </a: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3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Lifecycle</a:t>
            </a: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Obsługa pełnej ścieżki eksploatacji urządzenia poprzez nadawanie statusów takich jak: nowy, dostępny, w użyciu, w naprawie oraz zutylizowany.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4: Integracja z Active Directory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Identyfikacja i synchronizacja danych użytkowników sprzętu w oparciu o firmową usługę katalogową Active Directory.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5: Panel użytkownika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Dedykowany widok dla pracownika zapewniający pełny wgląd w aktywność konta, statusy złożonych wniosków, dokumentację oraz przypisane zasoby.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6: Dostępność mobilna (Aplikacja webowa)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Zapewnienie dostępu do platformy z dowolnego miejsca i urządzenia za pośrednictwem przeglądarki internetowej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AEA1-9A7F-50A9-B2CE-BF3FF8B0B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id="{7356945F-6716-818D-FBD3-6F5D55EFC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28625"/>
            <a:ext cx="77724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3200" dirty="0">
                <a:solidFill>
                  <a:srgbClr val="0B5395"/>
                </a:solidFill>
                <a:latin typeface="Calibri" panose="020F0502020204030204" pitchFamily="34" charset="0"/>
              </a:rPr>
              <a:t>Żądania Zamawiającego</a:t>
            </a: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E416F1AA-4409-6B73-4243-812BCAE15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1428750"/>
            <a:ext cx="77724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7: Składanie wniosków o wypożyczenie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Umożliwienie pracownikom składania sformalizowanych próśb o wydanie sprzętu na czas określony lub bezterminowo.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8: Dwuetapowa ścieżka autoryzacji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 akceptacji wniosku wymagający zgody bezpośredniego przełożonego, a w drugim kroku ostatecznego zatwierdzenia przez dział Helpdesk.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9: Automatyczne przypisanie zasobów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Samoczynne powiązanie wydanego urządzenia z profilem pracownika w systemie w momencie finalnej akceptacji wniosku przez Helpdesk.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10: Raportowanie stanu majątku IT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Generowanie przekrojowych zestawień dotyczących aktualnej kondycji zasobów oraz list sprzętu znajdującego się w posiadaniu pracowników.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11: Monitorowanie terminów zwrotu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Automatyczne tworzenie list urządzeń, których termin wypożyczenia upłynął, ze szczególnym uwzględnieniem sprzętu udostępnionego na testy.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12: Statystyki awaryjności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Tworzenie raportów dotyczących usterkowości urządzeń w celu identyfikacji modeli najczęściej wymagających naprawy.</a:t>
            </a:r>
          </a:p>
          <a:p>
            <a:pPr algn="just" eaLnBrk="1" hangingPunct="1">
              <a:lnSpc>
                <a:spcPct val="93000"/>
              </a:lnSpc>
            </a:pPr>
            <a:endParaRPr lang="pl-PL" sz="13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lnSpc>
                <a:spcPct val="93000"/>
              </a:lnSpc>
            </a:pP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STRQ 13: Szybkie rozliczenie (</a:t>
            </a:r>
            <a:r>
              <a:rPr lang="pl-PL" sz="13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Offboarding</a:t>
            </a:r>
            <a:r>
              <a:rPr lang="pl-PL" sz="13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 eaLnBrk="1" hangingPunct="1">
              <a:lnSpc>
                <a:spcPct val="93000"/>
              </a:lnSpc>
            </a:pPr>
            <a:r>
              <a:rPr lang="pl-PL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Funkcja pozwalająca na błyskawiczne wygenerowanie listy sprzętu podlegającego zwrotowi podczas procesu rozwiązywania umowy z pracownikiem.</a:t>
            </a:r>
          </a:p>
          <a:p>
            <a:pPr eaLnBrk="1" hangingPunct="1"/>
            <a:endParaRPr lang="pl-PL" sz="13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8199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37120699-B1C1-277D-0D15-EE6E314D62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642938"/>
            <a:ext cx="7772400" cy="857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32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Wymagania na system (FEAT)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C2B30DF9-8AF9-0649-755C-80BD737F9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552947"/>
              </p:ext>
            </p:extLst>
          </p:nvPr>
        </p:nvGraphicFramePr>
        <p:xfrm>
          <a:off x="357188" y="2114550"/>
          <a:ext cx="8429625" cy="32269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FEAT1: 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Ułatwienie zarządzania inwentarzem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FEAT1.1: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Centralizacja danych</a:t>
                      </a:r>
                    </a:p>
                    <a:p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FEAT1.2: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Poprawa transparentności inwentarza</a:t>
                      </a:r>
                      <a:endParaRPr kumimoji="0" lang="pl-PL" sz="1200" b="1" kern="1200" dirty="0">
                        <a:solidFill>
                          <a:srgbClr val="000000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FEAT2: 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Usprawnienie obsługi wniosku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FEAT2.1:</a:t>
                      </a:r>
                    </a:p>
                  </a:txBody>
                  <a:tcPr marL="91439" marR="91439" marT="45737" marB="45737">
                    <a:solidFill>
                      <a:srgbClr val="CCEDD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Skrócenie czasu obsługi wniosku</a:t>
                      </a:r>
                    </a:p>
                  </a:txBody>
                  <a:tcPr marL="91439" marR="91439" marT="45737" marB="45737">
                    <a:solidFill>
                      <a:srgbClr val="CCED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383645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FEAT2.2:</a:t>
                      </a:r>
                    </a:p>
                  </a:txBody>
                  <a:tcPr marL="91439" marR="91439" marT="45737" marB="45737">
                    <a:solidFill>
                      <a:srgbClr val="E7F7E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Uproszczenie procesu poprzez standaryzację</a:t>
                      </a:r>
                    </a:p>
                  </a:txBody>
                  <a:tcPr marL="91439" marR="91439" marT="45737" marB="45737">
                    <a:solidFill>
                      <a:srgbClr val="E7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100605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FEAT3: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Ograniczenie kosztów operacyjnych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927541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FEAT4: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Rozszerzenie możliwości raportowych i analitycznych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42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73FD36E-04C4-A95C-E319-9280EECB5D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642938"/>
            <a:ext cx="7772400" cy="857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32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Wymagania funkcjonalne na system (UC)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88C5334-EEF7-0B38-5AB6-3D491366F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598082"/>
              </p:ext>
            </p:extLst>
          </p:nvPr>
        </p:nvGraphicFramePr>
        <p:xfrm>
          <a:off x="357188" y="2114550"/>
          <a:ext cx="8429625" cy="32269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UC1: 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Zarządzanie procesem wnioskowanie i wydania sprzętu IT</a:t>
                      </a:r>
                      <a:endParaRPr lang="pl-PL" sz="1200" b="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UC1.1: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Automatyczne przypisanie sprzętu po akceptacji</a:t>
                      </a:r>
                    </a:p>
                    <a:p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UC1.2: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Składanie wniosku o wypożyczenie sprzętu na czas określony bądź nieokreślony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UC1.3: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Podgląd statusu wniosku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UC1.4: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Anulowanie wniosku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82285291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UC1.5: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Dwuetapowa ścieżka autoryzacji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16009176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UC1.6: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Delegacja akceptacji przez przełożonego pracownika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93492366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UC1.7: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Wysyłanie powiadomień e-mail oraz </a:t>
                      </a:r>
                      <a:r>
                        <a:rPr lang="pl-PL" sz="1200" dirty="0" err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push</a:t>
                      </a:r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5874442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BCDC-A6AE-4A74-3A9A-C96CEE14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B77A9E46-0974-A1DC-333F-C174842D3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642938"/>
            <a:ext cx="7772400" cy="857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32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Wymagania funkcjonalne na system (UC)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C738F7-BFDF-1286-8A1F-1FF2EBB60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64411"/>
              </p:ext>
            </p:extLst>
          </p:nvPr>
        </p:nvGraphicFramePr>
        <p:xfrm>
          <a:off x="357188" y="2114550"/>
          <a:ext cx="8429625" cy="174307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UC2: 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Zarządzanie procesem </a:t>
                      </a:r>
                      <a:r>
                        <a:rPr lang="pl-PL" sz="1200" b="1" dirty="0" err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offboardingu</a:t>
                      </a:r>
                      <a:endParaRPr lang="pl-PL" sz="1200" b="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UC2.1: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Zwrot sprzętu</a:t>
                      </a:r>
                    </a:p>
                    <a:p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UC2.2: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Szybkie rozliczenie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UC2.3: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Dezaktywacja konta użytkownika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593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0034-3366-5825-7A9B-1F613E988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3F72D2B3-9428-3EC6-CC46-EC6C8D89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642938"/>
            <a:ext cx="7772400" cy="857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32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Wymagania funkcjonalne na system (UC)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B04F2F8E-48DE-74E8-EC78-8ED75AFA11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151262"/>
              </p:ext>
            </p:extLst>
          </p:nvPr>
        </p:nvGraphicFramePr>
        <p:xfrm>
          <a:off x="357188" y="2114550"/>
          <a:ext cx="8429625" cy="396892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UC3: 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Zarządzanie obiektami systemu</a:t>
                      </a:r>
                      <a:endParaRPr lang="pl-PL" sz="1200" b="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UC3.1: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Rejestracja nowego urządzenia</a:t>
                      </a:r>
                    </a:p>
                    <a:p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UC3.2: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Edycja danych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UC3.3: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Kategoryzacja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UC3.4: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Zarządzaniem statusem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82285291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UC3.5: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Przegląd historii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16009176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UC3.6: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Identyfikacja przez kod QR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93492366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UC3.7: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Wyszukiwanie i filtrowanie urządzeń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587444296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UC3.8: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Generowanie raportu stanu urządzeń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138002209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UC3.9: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Generowanie raportu zestawiającego przeterminowane wypożyczenia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385730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843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22677FB8-2C39-5E31-513D-87BEF61FB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28625"/>
            <a:ext cx="8247063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3600" dirty="0">
                <a:solidFill>
                  <a:srgbClr val="0B5395"/>
                </a:solidFill>
                <a:latin typeface="Calibri" panose="020F0502020204030204" pitchFamily="34" charset="0"/>
              </a:rPr>
              <a:t>Mapowanie żądań na wymagania - macierz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4C84E4-4A15-70D3-91A8-D50C53438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760" y="1484784"/>
            <a:ext cx="6406480" cy="508122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>
            <a:extLst>
              <a:ext uri="{FF2B5EF4-FFF2-40B4-BE49-F238E27FC236}">
                <a16:creationId xmlns:a16="http://schemas.microsoft.com/office/drawing/2014/main" id="{6442F5A1-E8D1-B594-03A1-F7C507A5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714375"/>
            <a:ext cx="792003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3200" dirty="0">
                <a:solidFill>
                  <a:srgbClr val="0B5395"/>
                </a:solidFill>
                <a:latin typeface="Calibri" panose="020F0502020204030204" pitchFamily="34" charset="0"/>
              </a:rPr>
              <a:t>Mapowanie żądań na wymagania - drzewo</a:t>
            </a: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C71E91A9-9E75-BE43-9B88-5277379089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969921"/>
              </p:ext>
            </p:extLst>
          </p:nvPr>
        </p:nvGraphicFramePr>
        <p:xfrm>
          <a:off x="357187" y="1583777"/>
          <a:ext cx="8429625" cy="422810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STRQ1: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Ewidencja i edycja zasobów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UC3.1: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b="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Rejestracja nowego urządzenia</a:t>
                      </a:r>
                    </a:p>
                    <a:p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UC3.2: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Edycja danych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UC3.6: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Identyfikacja przez kod QR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05792691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UC3.7: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Wyszukiwanie i filtrowanie urządzeń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95867228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STRQ2: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Kategoryzacja sprzętu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07285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UC3.3: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Kategoryzacja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STRQ3: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Zarządzanie cyklem życia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0885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UC3.4: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Zarządzaniem statusem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82285291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UC3.5: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Przegląd historii urządzenia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16009176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B8F5-9791-F74F-9301-1F62761DD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>
            <a:extLst>
              <a:ext uri="{FF2B5EF4-FFF2-40B4-BE49-F238E27FC236}">
                <a16:creationId xmlns:a16="http://schemas.microsoft.com/office/drawing/2014/main" id="{3FA9ED63-56DC-BB60-091C-D318264C5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714375"/>
            <a:ext cx="792003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3200" dirty="0">
                <a:solidFill>
                  <a:srgbClr val="0B5395"/>
                </a:solidFill>
                <a:latin typeface="Calibri" panose="020F0502020204030204" pitchFamily="34" charset="0"/>
              </a:rPr>
              <a:t>Mapowanie żądań na wymagania - drzewo</a:t>
            </a: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965C2946-B01E-BF8E-868F-66F175F48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95386"/>
              </p:ext>
            </p:extLst>
          </p:nvPr>
        </p:nvGraphicFramePr>
        <p:xfrm>
          <a:off x="357187" y="1583777"/>
          <a:ext cx="8429625" cy="43142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STRQ4: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Integracja z Active Directory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UC2.3: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0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Dezaktywacja konta użytkownika: Synchronizacja danych i uprawnień użytkowników w oparciu o usługę katalogową.</a:t>
                      </a:r>
                      <a:endParaRPr lang="pl-PL" sz="1200" b="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STRQ5: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Panel użytkownika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UC1.3: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Podgląd statusu wniosku: Wgląd pracownika w aktywność konta i statusy złożonych wniosków.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05792691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STRQ7: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Składanie wniosków o wypożyczenie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07285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UC1.2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Składanie wniosku o wypożyczenie: Umożliwienie pracownikom składania próśb na czas określony lub bezterminowo.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UC1.4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Anulowanie wniosku: Możliwość wycofania prośby przez pracownika.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418885821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STRQ8: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Dwuetapowa ścieżka autoryzacji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0885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UC1.5: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Dwuetapowa ścieżka autoryzacji: Proces akceptacji przez przełożonego oraz dział Helpdesk.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82285291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UC1.6: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Delegacja akceptacji przez przełożonego: Możliwość przekazania uprawnień decyzyjnych innemu pracownikowi.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160091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8985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F57D1-F96E-DE64-EF32-6D5C78AF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>
            <a:extLst>
              <a:ext uri="{FF2B5EF4-FFF2-40B4-BE49-F238E27FC236}">
                <a16:creationId xmlns:a16="http://schemas.microsoft.com/office/drawing/2014/main" id="{CC873733-B67D-76D3-9C0B-FD3AB17E5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714375"/>
            <a:ext cx="792003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3200" dirty="0">
                <a:solidFill>
                  <a:srgbClr val="0B5395"/>
                </a:solidFill>
                <a:latin typeface="Calibri" panose="020F0502020204030204" pitchFamily="34" charset="0"/>
              </a:rPr>
              <a:t>Mapowanie żądań na wymagania - drzewo</a:t>
            </a:r>
          </a:p>
        </p:txBody>
      </p:sp>
      <p:graphicFrame>
        <p:nvGraphicFramePr>
          <p:cNvPr id="2" name="Tabela 3">
            <a:extLst>
              <a:ext uri="{FF2B5EF4-FFF2-40B4-BE49-F238E27FC236}">
                <a16:creationId xmlns:a16="http://schemas.microsoft.com/office/drawing/2014/main" id="{591D22A7-7E76-E4BB-CEF0-25E04C8F7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773969"/>
              </p:ext>
            </p:extLst>
          </p:nvPr>
        </p:nvGraphicFramePr>
        <p:xfrm>
          <a:off x="357187" y="1445234"/>
          <a:ext cx="8429625" cy="505617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STRQ9: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Automatyczne przypisywanie zasobów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UC1.1: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0" kern="1200" dirty="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Automatyczne przypisanie sprzętu po akceptacji: Samoczynne powiązanie urządzenia z profilem pracownika.</a:t>
                      </a:r>
                      <a:endParaRPr lang="pl-PL" sz="1200" b="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STRQ10: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Raportowanie stanu majątku IT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UC3.8: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Generowanie raportu stanu urządzeń: Tworzenie zestawień dotyczących aktualnej kondycji zasobów.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05792691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STRQ11: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Monitorowanie terminów zwrotu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307285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UC3.9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Generowanie raportu zestawiającego przeterminowane wypożyczenia: Automatyczna identyfikacja zaległego sprzętu.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UC1.7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Wysyłanie powiadomień e-mail oraz </a:t>
                      </a:r>
                      <a:r>
                        <a:rPr lang="pl-PL" sz="1200" dirty="0" err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push</a:t>
                      </a: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: Informowanie o zbliżających się lub przekroczonych terminach.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418885821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STRQ12: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Statystyki awaryjności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08852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UC3.5: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Przegląd historii urządzenia: Dane wejściowe do identyfikacji modeli najczęściej wymagających naprawy.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822852917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STRQ13: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Szybkie rozliczenie (</a:t>
                      </a:r>
                      <a:r>
                        <a:rPr lang="pl-PL" sz="1200" b="1" dirty="0" err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Offboarding</a:t>
                      </a:r>
                      <a:r>
                        <a:rPr lang="pl-PL" sz="1200" b="1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)</a:t>
                      </a:r>
                    </a:p>
                  </a:txBody>
                  <a:tcPr marL="91439" marR="91439" marT="45737" marB="45737">
                    <a:solidFill>
                      <a:srgbClr val="0EC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74201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UC2.1: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Zwrot sprzętu: Rejestracja oddania zasobów podczas rozwiązywania umowy.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160091763"/>
                  </a:ext>
                </a:extLst>
              </a:tr>
              <a:tr h="3709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0" algn="l"/>
                          <a:tab pos="447675" algn="l"/>
                          <a:tab pos="896938" algn="l"/>
                          <a:tab pos="1346200" algn="l"/>
                          <a:tab pos="1795463" algn="l"/>
                          <a:tab pos="2244725" algn="l"/>
                          <a:tab pos="2693988" algn="l"/>
                          <a:tab pos="3143250" algn="l"/>
                          <a:tab pos="3592513" algn="l"/>
                          <a:tab pos="4041775" algn="l"/>
                          <a:tab pos="4491038" algn="l"/>
                          <a:tab pos="4940300" algn="l"/>
                          <a:tab pos="5389563" algn="l"/>
                          <a:tab pos="5838825" algn="l"/>
                          <a:tab pos="6288088" algn="l"/>
                          <a:tab pos="6737350" algn="l"/>
                          <a:tab pos="7186613" algn="l"/>
                          <a:tab pos="7635875" algn="l"/>
                          <a:tab pos="8085138" algn="l"/>
                          <a:tab pos="8534400" algn="l"/>
                          <a:tab pos="8983663" algn="l"/>
                        </a:tabLst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UC2.2: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Szybkie rozliczenie: Błyskawiczne wygenerowanie listy sprzętu podlegającego zwrotowi.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185113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2667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>
            <a:extLst>
              <a:ext uri="{FF2B5EF4-FFF2-40B4-BE49-F238E27FC236}">
                <a16:creationId xmlns:a16="http://schemas.microsoft.com/office/drawing/2014/main" id="{0088384A-5A20-9F8D-BB42-F616A297E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65138"/>
            <a:ext cx="77724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4400" dirty="0">
                <a:solidFill>
                  <a:srgbClr val="0B5395"/>
                </a:solidFill>
              </a:rPr>
              <a:t>Specyfikacja wymagań dodatkowych</a:t>
            </a:r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993623F0-133E-9AD9-B7D6-74AD2B9FC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143125"/>
            <a:ext cx="8143875" cy="397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pl-PL" sz="1400" b="1" dirty="0">
                <a:solidFill>
                  <a:srgbClr val="000000"/>
                </a:solidFill>
              </a:rPr>
              <a:t>Wymagania użyteczności i ergonomii: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200" dirty="0" err="1">
                <a:solidFill>
                  <a:srgbClr val="000000"/>
                </a:solidFill>
                <a:latin typeface="Arial" charset="0"/>
                <a:cs typeface="Arial" charset="0"/>
              </a:rPr>
              <a:t>Responsywność</a:t>
            </a:r>
            <a:r>
              <a:rPr lang="pl-PL" sz="1200" dirty="0">
                <a:solidFill>
                  <a:srgbClr val="000000"/>
                </a:solidFill>
                <a:latin typeface="Arial" charset="0"/>
                <a:cs typeface="Arial" charset="0"/>
              </a:rPr>
              <a:t> w zakresie 360-4k </a:t>
            </a:r>
            <a:r>
              <a:rPr lang="pl-PL" sz="1200" dirty="0" err="1">
                <a:solidFill>
                  <a:srgbClr val="000000"/>
                </a:solidFill>
                <a:latin typeface="Arial" charset="0"/>
                <a:cs typeface="Arial" charset="0"/>
              </a:rPr>
              <a:t>px</a:t>
            </a:r>
            <a:r>
              <a:rPr lang="pl-PL" sz="1200" dirty="0">
                <a:solidFill>
                  <a:srgbClr val="000000"/>
                </a:solidFill>
                <a:latin typeface="Arial" charset="0"/>
                <a:cs typeface="Arial" charset="0"/>
              </a:rPr>
              <a:t>.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200" dirty="0">
                <a:solidFill>
                  <a:srgbClr val="000000"/>
                </a:solidFill>
                <a:latin typeface="Arial" charset="0"/>
                <a:cs typeface="Arial" charset="0"/>
              </a:rPr>
              <a:t>Obsługiwanie 2 ostatnich wersji przeglądarek.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200" dirty="0">
                <a:solidFill>
                  <a:srgbClr val="000000"/>
                </a:solidFill>
                <a:latin typeface="Arial" charset="0"/>
                <a:cs typeface="Arial" charset="0"/>
              </a:rPr>
              <a:t>Wysoka intuicyjność systemu.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200" dirty="0">
                <a:solidFill>
                  <a:srgbClr val="000000"/>
                </a:solidFill>
                <a:latin typeface="Arial" charset="0"/>
                <a:cs typeface="Arial" charset="0"/>
              </a:rPr>
              <a:t>Wsparcie dla języka polskiego i angielskiego.</a:t>
            </a:r>
            <a:endParaRPr lang="pl-PL" sz="1400" dirty="0">
              <a:solidFill>
                <a:srgbClr val="000000"/>
              </a:solidFill>
            </a:endParaRP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pl-PL" sz="1400" b="1" dirty="0">
                <a:solidFill>
                  <a:srgbClr val="000000"/>
                </a:solidFill>
              </a:rPr>
              <a:t>Wymagania wydajnościowe: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400" dirty="0">
                <a:solidFill>
                  <a:srgbClr val="000000"/>
                </a:solidFill>
              </a:rPr>
              <a:t>Czas odpowiedzi interfejsu nie może przekraczać 5 sekund.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400" dirty="0">
                <a:solidFill>
                  <a:srgbClr val="000000"/>
                </a:solidFill>
              </a:rPr>
              <a:t>Obsługa 200 równoczesnych sesji.</a:t>
            </a:r>
            <a:endParaRPr lang="pl-PL" sz="1400" b="1" dirty="0">
              <a:solidFill>
                <a:srgbClr val="000000"/>
              </a:solidFill>
            </a:endParaRP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pl-PL" sz="1400" b="1" dirty="0">
                <a:solidFill>
                  <a:srgbClr val="000000"/>
                </a:solidFill>
              </a:rPr>
              <a:t>Wymagania niezawodnościowe: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400" dirty="0">
                <a:solidFill>
                  <a:srgbClr val="000000"/>
                </a:solidFill>
              </a:rPr>
              <a:t>Dostępność usługi na poziomie 99,9%.</a:t>
            </a:r>
          </a:p>
          <a:p>
            <a:pPr eaLnBrk="1" hangingPunct="1">
              <a:buFont typeface="Calibri" panose="020F0502020204030204" pitchFamily="34" charset="0"/>
              <a:buAutoNum type="arabicPeriod"/>
            </a:pPr>
            <a:r>
              <a:rPr lang="pl-PL" sz="1400" b="1" dirty="0">
                <a:solidFill>
                  <a:srgbClr val="000000"/>
                </a:solidFill>
              </a:rPr>
              <a:t>Wymagania dotyczące skalowalności:</a:t>
            </a:r>
          </a:p>
          <a:p>
            <a:pPr lvl="1" eaLnBrk="1" hangingPunct="1">
              <a:buFont typeface="Calibri" panose="020F0502020204030204" pitchFamily="34" charset="0"/>
              <a:buAutoNum type="arabicPeriod"/>
            </a:pPr>
            <a:r>
              <a:rPr lang="pl-PL" sz="1400" dirty="0">
                <a:solidFill>
                  <a:srgbClr val="000000"/>
                </a:solidFill>
              </a:rPr>
              <a:t>Skalowanie horyzontalne.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">
            <a:extLst>
              <a:ext uri="{FF2B5EF4-FFF2-40B4-BE49-F238E27FC236}">
                <a16:creationId xmlns:a16="http://schemas.microsoft.com/office/drawing/2014/main" id="{771B6A1C-2CDA-5CC4-56E1-E80C2544B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00063"/>
            <a:ext cx="77724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algn="ctr" eaLnBrk="1" hangingPunct="1"/>
            <a:r>
              <a:rPr lang="pl-PL" sz="4400" dirty="0">
                <a:solidFill>
                  <a:srgbClr val="0B5395"/>
                </a:solidFill>
                <a:latin typeface="Calibri" panose="020F0502020204030204" pitchFamily="34" charset="0"/>
              </a:rPr>
              <a:t>Szczegółowa specyfikacja wymagań na </a:t>
            </a:r>
            <a:r>
              <a:rPr lang="pl-PL" sz="4400" dirty="0" err="1">
                <a:solidFill>
                  <a:srgbClr val="0B5395"/>
                </a:solidFill>
                <a:latin typeface="Calibri" panose="020F0502020204030204" pitchFamily="34" charset="0"/>
              </a:rPr>
              <a:t>system:xxx</a:t>
            </a:r>
            <a:endParaRPr lang="pl-PL" sz="4400" dirty="0">
              <a:solidFill>
                <a:srgbClr val="0B5395"/>
              </a:solidFill>
              <a:latin typeface="Calibri" panose="020F0502020204030204" pitchFamily="34" charset="0"/>
            </a:endParaRPr>
          </a:p>
        </p:txBody>
      </p:sp>
      <p:sp>
        <p:nvSpPr>
          <p:cNvPr id="23555" name="Text Box 2">
            <a:extLst>
              <a:ext uri="{FF2B5EF4-FFF2-40B4-BE49-F238E27FC236}">
                <a16:creationId xmlns:a16="http://schemas.microsoft.com/office/drawing/2014/main" id="{C7995317-F69C-8193-6039-450BA12ED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286000"/>
            <a:ext cx="8143875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l-PL" sz="2800" b="1" dirty="0">
                <a:solidFill>
                  <a:schemeClr val="tx1"/>
                </a:solidFill>
              </a:rPr>
              <a:t>Nazwa projektu: </a:t>
            </a:r>
            <a:r>
              <a:rPr lang="pl-PL" sz="2800" dirty="0">
                <a:solidFill>
                  <a:schemeClr val="tx1"/>
                </a:solidFill>
              </a:rPr>
              <a:t>System Helpdesk.</a:t>
            </a:r>
          </a:p>
          <a:p>
            <a:pPr eaLnBrk="1" hangingPunct="1">
              <a:spcBef>
                <a:spcPts val="600"/>
              </a:spcBef>
            </a:pPr>
            <a:endParaRPr lang="pl-PL" sz="2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pl-PL" sz="2800" b="1" dirty="0">
                <a:solidFill>
                  <a:srgbClr val="000000"/>
                </a:solidFill>
              </a:rPr>
              <a:t>Zespół wykonawcy w składzie: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Wiktor Konieczny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Kamil Sobierajski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Kamil Urbaś </a:t>
            </a:r>
            <a:r>
              <a:rPr lang="pl-PL" sz="2800" i="1" dirty="0">
                <a:solidFill>
                  <a:srgbClr val="000000"/>
                </a:solidFill>
              </a:rPr>
              <a:t>(Kierownik Zespołu)</a:t>
            </a:r>
          </a:p>
          <a:p>
            <a:pPr eaLnBrk="1" hangingPunct="1">
              <a:spcBef>
                <a:spcPts val="600"/>
              </a:spcBef>
            </a:pPr>
            <a:br>
              <a:rPr lang="pl-PL" sz="2800" dirty="0">
                <a:solidFill>
                  <a:srgbClr val="000000"/>
                </a:solidFill>
              </a:rPr>
            </a:br>
            <a:endParaRPr lang="pl-PL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7ACF32BE-ADB9-691B-19D7-1D2EFADB5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2286000"/>
            <a:ext cx="7772400" cy="1006475"/>
          </a:xfrm>
        </p:spPr>
        <p:txBody>
          <a:bodyPr tIns="0"/>
          <a:lstStyle/>
          <a:p>
            <a:pPr eaLnBrk="1" hangingPunct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l-PL" dirty="0">
                <a:solidFill>
                  <a:srgbClr val="0B5395"/>
                </a:solidFill>
              </a:rPr>
              <a:t>Model przypadków użycia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ytuł 1">
            <a:extLst>
              <a:ext uri="{FF2B5EF4-FFF2-40B4-BE49-F238E27FC236}">
                <a16:creationId xmlns:a16="http://schemas.microsoft.com/office/drawing/2014/main" id="{A5F26955-AF68-9E1D-B00E-077E5652A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dirty="0">
                <a:solidFill>
                  <a:schemeClr val="accent1">
                    <a:lumMod val="75000"/>
                  </a:schemeClr>
                </a:solidFill>
              </a:rPr>
              <a:t>Specyfikacja aktorów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AFB74F-B0C5-DB71-3B53-E4B0AEEA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602" y="2204864"/>
            <a:ext cx="5598796" cy="39619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6164-1712-3D3D-FCE5-D413AEC7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ytuł 1">
            <a:extLst>
              <a:ext uri="{FF2B5EF4-FFF2-40B4-BE49-F238E27FC236}">
                <a16:creationId xmlns:a16="http://schemas.microsoft.com/office/drawing/2014/main" id="{24F7448A-273D-7682-791F-C3DB1710F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dirty="0">
                <a:solidFill>
                  <a:schemeClr val="accent1">
                    <a:lumMod val="75000"/>
                  </a:schemeClr>
                </a:solidFill>
              </a:rPr>
              <a:t>Specyfikacja aktorów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D84CE05-4BDD-61AB-E013-BF5AD7E581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800435"/>
              </p:ext>
            </p:extLst>
          </p:nvPr>
        </p:nvGraphicFramePr>
        <p:xfrm>
          <a:off x="355599" y="2276872"/>
          <a:ext cx="8429625" cy="292694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3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5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Aktor</a:t>
                      </a:r>
                      <a:endParaRPr lang="pl-PL" sz="1200" b="1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pl-PL" sz="1200" b="1" kern="120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Opis</a:t>
                      </a:r>
                      <a:endParaRPr kumimoji="0" lang="pl-PL" sz="1200" b="1" kern="1200" dirty="0">
                        <a:solidFill>
                          <a:srgbClr val="000000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Pracownik</a:t>
                      </a:r>
                    </a:p>
                    <a:p>
                      <a:endParaRPr lang="pl-PL" sz="1200" dirty="0"/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l-PL" sz="1200" b="0" kern="1200">
                          <a:solidFill>
                            <a:srgbClr val="000000"/>
                          </a:solidFill>
                          <a:latin typeface="Arial" charset="0"/>
                          <a:ea typeface="+mn-ea"/>
                          <a:cs typeface="Arial" charset="0"/>
                        </a:rPr>
                        <a:t>Pracownik to osoba zatrudniona w firmie Stack Underflow, posiadająca potrzebę wypożyczenia sprzętu.</a:t>
                      </a:r>
                      <a:endParaRPr kumimoji="0" lang="pl-PL" sz="1200" b="0" kern="1200" dirty="0">
                        <a:solidFill>
                          <a:srgbClr val="000000"/>
                        </a:solidFill>
                        <a:latin typeface="Arial" charset="0"/>
                        <a:ea typeface="+mn-ea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Przełożony pracownika</a:t>
                      </a:r>
                      <a:endParaRPr lang="pl-PL" sz="1200" b="1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Przełożony pracownika to osoba, która jest odpowiedzialna za Pracownika. Jego obowiązkiem w systemie jest autoryzacja wniosków wypożyczenia sprzętu złożonych przez jego podopiecznych.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Specjalista Helpdesk</a:t>
                      </a:r>
                      <a:endParaRPr lang="pl-PL" sz="1200" b="1" dirty="0">
                        <a:solidFill>
                          <a:srgbClr val="000000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Specjalista Helpdesk jest odpowiedzialny za sporządzanie i autoryzację dokumentacji formalnej w systemie oraz sprawuje pieczę nad fizycznym sprzętem w firmie </a:t>
                      </a:r>
                      <a:r>
                        <a:rPr lang="pl-PL" sz="1200" dirty="0" err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Stack</a:t>
                      </a: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 </a:t>
                      </a:r>
                      <a:r>
                        <a:rPr lang="pl-PL" sz="1200" dirty="0" err="1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Underflow</a:t>
                      </a: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205792691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Active Directory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Active Directory to aktor zewnętrzny systemu odpowiedzialny za identyfikację użytkownika przy pomocy SSO oraz za odwzorowanie struktury organizacji.</a:t>
                      </a: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958672280"/>
                  </a:ext>
                </a:extLst>
              </a:tr>
              <a:tr h="457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b="1" dirty="0">
                          <a:solidFill>
                            <a:srgbClr val="000000"/>
                          </a:solidFill>
                          <a:latin typeface="Arial" charset="0"/>
                          <a:cs typeface="Arial" charset="0"/>
                        </a:rPr>
                        <a:t>System</a:t>
                      </a:r>
                    </a:p>
                  </a:txBody>
                  <a:tcPr marL="91439" marR="91439" marT="45737" marB="457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200" dirty="0"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rPr>
                        <a:t>System to aktor wewnętrzny odpowiedzialny za wszelkie automatyczne procesy.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200" dirty="0"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37" marB="45737"/>
                </a:tc>
                <a:extLst>
                  <a:ext uri="{0D108BD9-81ED-4DB2-BD59-A6C34878D82A}">
                    <a16:rowId xmlns:a16="http://schemas.microsoft.com/office/drawing/2014/main" val="3779066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308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B2C4E1A-4EA1-87B2-84BB-E519AFD77F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85750"/>
            <a:ext cx="7572375" cy="642938"/>
          </a:xfrm>
        </p:spPr>
        <p:txBody>
          <a:bodyPr tIns="0"/>
          <a:lstStyle/>
          <a:p>
            <a:pPr eaLnBrk="1" hangingPunct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l-PL" sz="3600" dirty="0">
                <a:solidFill>
                  <a:srgbClr val="0B5395"/>
                </a:solidFill>
              </a:rPr>
              <a:t>Diagram (głównych) przypadków użycia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A80DE8-27DC-F5DA-5251-1C835631B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68760"/>
            <a:ext cx="7772400" cy="456918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4A26-FF0D-F44D-0D26-AA8815F45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CB61DB0C-3324-B24A-A6B9-C4F2DA521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85750"/>
            <a:ext cx="7572375" cy="642938"/>
          </a:xfrm>
        </p:spPr>
        <p:txBody>
          <a:bodyPr tIns="0"/>
          <a:lstStyle/>
          <a:p>
            <a:pPr eaLnBrk="1" hangingPunct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l-PL" sz="3600" dirty="0">
                <a:solidFill>
                  <a:srgbClr val="0B5395"/>
                </a:solidFill>
              </a:rPr>
              <a:t>Diagram (głównych) przypadków użycia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001D19-7226-9C45-DB92-5C7602059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43" y="1134495"/>
            <a:ext cx="7529513" cy="542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601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DD167-D3B6-12A8-B013-C10ADAC07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B0847A0-9CA5-5A24-65E2-B6EECEA3E0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2938" y="285750"/>
            <a:ext cx="7572375" cy="642938"/>
          </a:xfrm>
        </p:spPr>
        <p:txBody>
          <a:bodyPr tIns="0"/>
          <a:lstStyle/>
          <a:p>
            <a:pPr eaLnBrk="1" hangingPunct="1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pl-PL" sz="3600" dirty="0">
                <a:solidFill>
                  <a:srgbClr val="0B5395"/>
                </a:solidFill>
              </a:rPr>
              <a:t>Diagram (głównych) przypadków użycia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01B827-273B-E3CC-C355-17235F483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52736"/>
            <a:ext cx="7772400" cy="532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0771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19A5F3-2383-C101-7F9C-1D060471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642938"/>
            <a:ext cx="7769225" cy="5381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200" dirty="0">
                <a:solidFill>
                  <a:schemeClr val="accent1">
                    <a:lumMod val="75000"/>
                  </a:schemeClr>
                </a:solidFill>
              </a:rPr>
              <a:t>Scenariusz główny dla przypadku użycia UCS:001</a:t>
            </a:r>
          </a:p>
        </p:txBody>
      </p:sp>
      <p:sp>
        <p:nvSpPr>
          <p:cNvPr id="27651" name="pole tekstowe 4">
            <a:extLst>
              <a:ext uri="{FF2B5EF4-FFF2-40B4-BE49-F238E27FC236}">
                <a16:creationId xmlns:a16="http://schemas.microsoft.com/office/drawing/2014/main" id="{91CB15A9-D3C0-1430-4666-23C668F39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745" y="1772816"/>
            <a:ext cx="7769225" cy="2831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l-PL" sz="1200" b="1" dirty="0">
                <a:solidFill>
                  <a:schemeClr val="tx1"/>
                </a:solidFill>
                <a:latin typeface="Arial" panose="020B0604020202020204" pitchFamily="34" charset="0"/>
              </a:rPr>
              <a:t>Przypadek użycia: UCS:001 – Złożenie wniosku o wypożyczenie sprzętu</a:t>
            </a:r>
          </a:p>
          <a:p>
            <a:endParaRPr lang="pl-PL" sz="1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Kontekst użycia: Pracownik zgłasza zapotrzebowanie na nowy sprzęt IT.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Zakres: System Zarządzania Sprzętem IT  |  Poziom: Cel użytkownika  |  Aktor główny: Pracownik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Warunek początkowy: Pracownik jest zalogowany; konto aktywne z danymi AD.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Gwarancja powodzenia: Wniosek otrzymuje status „Oczekujący”; do Przełożonego wysyłane jest powiadomienie.</a:t>
            </a:r>
          </a:p>
          <a:p>
            <a:endParaRPr lang="pl-PL" sz="11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pl-PL" sz="1100" b="1" dirty="0">
                <a:solidFill>
                  <a:schemeClr val="tx1"/>
                </a:solidFill>
                <a:latin typeface="Arial" panose="020B0604020202020204" pitchFamily="34" charset="0"/>
              </a:rPr>
              <a:t>Główny scenariusz powodzenia: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1.  Pracownik wybiera opcję „Utwórz wniosek” w panelu użytkownika.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2.  System odpytuje Active Directory i pobiera dane pracownika oraz jego przełożonego.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3.  System wyświetla formularz wniosku z polami: Kategoria sprzętu, Uzasadnienie, Przewidywany okres.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4.  Pracownik wybiera kategorię, wpisuje uzasadnienie i zatwierdza formularz.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5.  System weryfikuje kompletność danych i poprawność okresu wypożyczenia.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6.  System zapisuje wniosek ze statusem „Oczekuje na opinię przełożonego”.</a:t>
            </a:r>
          </a:p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</a:rPr>
              <a:t>7.  System wysyła powiadomienie e-mail do zidentyfikowanego Przełożonego.</a:t>
            </a:r>
          </a:p>
          <a:p>
            <a:endParaRPr lang="pl-PL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5212B3-17AA-ACA6-BE6B-B7E92915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4" y="642938"/>
            <a:ext cx="8143875" cy="5381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pl-PL" sz="3200" dirty="0">
                <a:solidFill>
                  <a:schemeClr val="accent1">
                    <a:lumMod val="75000"/>
                  </a:schemeClr>
                </a:solidFill>
              </a:rPr>
              <a:t>Scenariusz alternatywny dla przypadku użycia UCS:001</a:t>
            </a:r>
          </a:p>
        </p:txBody>
      </p:sp>
      <p:sp>
        <p:nvSpPr>
          <p:cNvPr id="28675" name="pole tekstowe 4">
            <a:extLst>
              <a:ext uri="{FF2B5EF4-FFF2-40B4-BE49-F238E27FC236}">
                <a16:creationId xmlns:a16="http://schemas.microsoft.com/office/drawing/2014/main" id="{AFF5109B-3122-2502-AECA-125D43430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179513"/>
            <a:ext cx="84296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l-PL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l-PL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AA4CB-AA83-C509-953F-07197C9FAE67}"/>
              </a:ext>
            </a:extLst>
          </p:cNvPr>
          <p:cNvSpPr txBox="1"/>
          <p:nvPr/>
        </p:nvSpPr>
        <p:spPr>
          <a:xfrm>
            <a:off x="714375" y="1844824"/>
            <a:ext cx="717215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b="1" dirty="0">
                <a:solidFill>
                  <a:schemeClr val="tx1"/>
                </a:solidFill>
                <a:latin typeface="Arial" panose="020B0604020202020204" pitchFamily="34" charset="0"/>
              </a:rPr>
              <a:t>Przypadek użycia: UCS:001 - Złożenie wniosku (scenariusz alternatywny)</a:t>
            </a:r>
          </a:p>
          <a:p>
            <a:endParaRPr lang="pl-PL" sz="12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pl-PL" sz="1200" b="1" dirty="0">
                <a:solidFill>
                  <a:schemeClr val="tx1"/>
                </a:solidFill>
                <a:latin typeface="Arial" panose="020B0604020202020204" pitchFamily="34" charset="0"/>
              </a:rPr>
              <a:t>Rozszerzenie 1a - Błąd walidacji danych:</a:t>
            </a: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1a. Wniosek nie został poprawnie uzupełniony (brakujące lub błędne pola).</a:t>
            </a: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    a. System wyświetla komunikat o błędzie (np. „Pole uzasadnienie jest wymagane”).</a:t>
            </a: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    b. System podświetla brakujące pola na czerwono.</a:t>
            </a: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    c. Powrót do kroku 4 – Pracownik poprawia formularz.</a:t>
            </a:r>
          </a:p>
          <a:p>
            <a:endParaRPr lang="pl-PL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pl-PL" sz="1200" b="1" dirty="0">
                <a:solidFill>
                  <a:schemeClr val="tx1"/>
                </a:solidFill>
                <a:latin typeface="Arial" panose="020B0604020202020204" pitchFamily="34" charset="0"/>
              </a:rPr>
              <a:t>Rozszerzenie 1b - Brak autoryzacji:</a:t>
            </a: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1b. System odrzuca próbę utworzenia wniosku i prosi o ponowne logowanie.</a:t>
            </a:r>
          </a:p>
          <a:p>
            <a:endParaRPr lang="pl-PL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Minimalna gwarancja: Dane wniosku zostają zachowane jako wersja robocza przy przerwaniu procesu.</a:t>
            </a:r>
          </a:p>
          <a:p>
            <a:r>
              <a:rPr lang="pl-PL" sz="1200" dirty="0">
                <a:solidFill>
                  <a:schemeClr val="tx1"/>
                </a:solidFill>
                <a:latin typeface="Arial" panose="020B0604020202020204" pitchFamily="34" charset="0"/>
              </a:rPr>
              <a:t>Warianty technologii: Pracownik może złożyć wniosek z poziomu aplikacji webowej lub mobilnej.</a:t>
            </a:r>
          </a:p>
          <a:p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CF2F89-29D7-2CA2-3AEA-B45C9556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177381"/>
            <a:ext cx="3074665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aktywności dla przypadku użycia UCS:001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DA4D6-5646-302E-150E-5CA094087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260648"/>
            <a:ext cx="2292379" cy="36989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229FC55-6373-DDAD-DB13-97A301472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3996119"/>
            <a:ext cx="2292379" cy="25918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495CB604-40A6-C424-5198-D98B18EA8E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00063"/>
            <a:ext cx="7772400" cy="1431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44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Analiza systemu xxx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B1DE3EDB-8E63-E1DC-DF80-B68600262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286000"/>
            <a:ext cx="8143875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l-PL" sz="2800" b="1" dirty="0">
                <a:solidFill>
                  <a:schemeClr val="tx1"/>
                </a:solidFill>
              </a:rPr>
              <a:t>Nazwa projektu: </a:t>
            </a:r>
            <a:r>
              <a:rPr lang="pl-PL" sz="2800" dirty="0">
                <a:solidFill>
                  <a:schemeClr val="tx1"/>
                </a:solidFill>
              </a:rPr>
              <a:t>System Helpdesk.</a:t>
            </a:r>
          </a:p>
          <a:p>
            <a:pPr eaLnBrk="1" hangingPunct="1">
              <a:spcBef>
                <a:spcPts val="600"/>
              </a:spcBef>
            </a:pPr>
            <a:endParaRPr lang="pl-PL" sz="2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pl-PL" sz="2800" b="1" dirty="0">
                <a:solidFill>
                  <a:srgbClr val="000000"/>
                </a:solidFill>
              </a:rPr>
              <a:t>Zespół wykonawcy w składzie: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Wiktor Konieczny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Kamil Sobierajski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Kamil Urbaś </a:t>
            </a:r>
            <a:r>
              <a:rPr lang="pl-PL" sz="2800" i="1" dirty="0">
                <a:solidFill>
                  <a:srgbClr val="000000"/>
                </a:solidFill>
              </a:rPr>
              <a:t>(Kierownik Zespołu)</a:t>
            </a:r>
          </a:p>
          <a:p>
            <a:pPr eaLnBrk="1" hangingPunct="1">
              <a:spcBef>
                <a:spcPts val="600"/>
              </a:spcBef>
            </a:pPr>
            <a:br>
              <a:rPr lang="pl-PL" sz="2800" dirty="0">
                <a:solidFill>
                  <a:srgbClr val="000000"/>
                </a:solidFill>
              </a:rPr>
            </a:br>
            <a:endParaRPr lang="pl-PL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75ACC47D-0993-C6EF-7070-61164C389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357313"/>
            <a:ext cx="3629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b="1" dirty="0">
                <a:solidFill>
                  <a:schemeClr val="tx1"/>
                </a:solidFill>
              </a:rPr>
              <a:t>Realizacje usług systemu: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12A21F3B-9CA3-804B-1F89-612EAB392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pl-PL" dirty="0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FB8F156C-FDDB-3B39-E3CC-5DA35A772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571500"/>
            <a:ext cx="5857875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realizacji przypadków użycia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10C73-84CC-D8A2-ADC0-34BCAB3ED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83" y="2101850"/>
            <a:ext cx="3866834" cy="434285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72AC5-BCE0-B827-7F09-484D0D4F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569CFB5F-41D4-CA28-E9FB-C0ECE2691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357313"/>
            <a:ext cx="3629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b="1" dirty="0">
                <a:solidFill>
                  <a:schemeClr val="tx1"/>
                </a:solidFill>
              </a:rPr>
              <a:t>Realizacje usług systemu: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5D6B2248-20DD-D48B-56F3-B48D1A766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pl-PL" dirty="0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50F93631-4671-E6B5-749C-0B1816279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571500"/>
            <a:ext cx="5857875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realizacji przypadków użycia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E80C78-A2DB-CB31-11E3-A1A342E13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724" y="2099784"/>
            <a:ext cx="4307425" cy="411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6601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B1D1-D37A-D6BC-0EF1-1DA170EBC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>
            <a:extLst>
              <a:ext uri="{FF2B5EF4-FFF2-40B4-BE49-F238E27FC236}">
                <a16:creationId xmlns:a16="http://schemas.microsoft.com/office/drawing/2014/main" id="{F9B16AB0-9490-717F-D7C4-D7DBB9FAE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357313"/>
            <a:ext cx="3629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b="1" dirty="0">
                <a:solidFill>
                  <a:schemeClr val="tx1"/>
                </a:solidFill>
              </a:rPr>
              <a:t>Realizacje usług systemu:</a:t>
            </a:r>
            <a:r>
              <a:rPr lang="pl-PL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ACA262D8-CC0A-318E-63C9-5C6B5C9BF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pl-PL" dirty="0"/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4DF5C0D1-5FE1-E1CC-29B2-576DF7DEE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571500"/>
            <a:ext cx="5857875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realizacji przypadków użycia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F43E32-1222-9C02-287A-F73EEBB81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259" y="2101850"/>
            <a:ext cx="4501481" cy="46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2951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F36B41FB-D1AB-58FF-1AA7-BAA322565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VOPC dla realizacji przypadku użycia UCS:007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1232A6-304C-2E9C-09C2-7496A3AED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3968"/>
            <a:ext cx="7772400" cy="35500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D8258D7D-DFB3-93DD-4AE7-004CFE9E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Definicje klas analitycznych (opis)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C8C20A-5A37-DC52-CAF6-9A46BF387AE4}"/>
              </a:ext>
            </a:extLst>
          </p:cNvPr>
          <p:cNvSpPr txBox="1"/>
          <p:nvPr/>
        </p:nvSpPr>
        <p:spPr>
          <a:xfrm>
            <a:off x="785813" y="1556792"/>
            <a:ext cx="72189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0000"/>
                </a:solidFill>
              </a:rPr>
              <a:t>Klasy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  <a:r>
              <a:rPr lang="en-US" sz="1600" b="1" dirty="0" err="1">
                <a:solidFill>
                  <a:srgbClr val="000000"/>
                </a:solidFill>
              </a:rPr>
              <a:t>analityczne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  <a:r>
              <a:rPr lang="en-US" sz="1600" b="1" dirty="0" err="1">
                <a:solidFill>
                  <a:srgbClr val="000000"/>
                </a:solidFill>
              </a:rPr>
              <a:t>zostały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  <a:r>
              <a:rPr lang="en-US" sz="1600" b="1" dirty="0" err="1">
                <a:solidFill>
                  <a:srgbClr val="000000"/>
                </a:solidFill>
              </a:rPr>
              <a:t>podzielone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  <a:r>
              <a:rPr lang="en-US" sz="1600" b="1" dirty="0" err="1">
                <a:solidFill>
                  <a:srgbClr val="000000"/>
                </a:solidFill>
              </a:rPr>
              <a:t>na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  <a:r>
              <a:rPr lang="en-US" sz="1600" b="1" dirty="0" err="1">
                <a:solidFill>
                  <a:srgbClr val="000000"/>
                </a:solidFill>
              </a:rPr>
              <a:t>trzy</a:t>
            </a:r>
            <a:r>
              <a:rPr lang="en-US" sz="1600" b="1" dirty="0">
                <a:solidFill>
                  <a:srgbClr val="000000"/>
                </a:solidFill>
              </a:rPr>
              <a:t> </a:t>
            </a:r>
            <a:r>
              <a:rPr lang="en-US" sz="1600" b="1" dirty="0" err="1">
                <a:solidFill>
                  <a:srgbClr val="000000"/>
                </a:solidFill>
              </a:rPr>
              <a:t>kategorie</a:t>
            </a:r>
            <a:r>
              <a:rPr lang="en-US" sz="1600" b="1" dirty="0">
                <a:solidFill>
                  <a:srgbClr val="000000"/>
                </a:solidFill>
              </a:rPr>
              <a:t>:</a:t>
            </a:r>
          </a:p>
          <a:p>
            <a:r>
              <a:rPr lang="en-US" sz="1600" b="1" dirty="0">
                <a:solidFill>
                  <a:srgbClr val="000000"/>
                </a:solidFill>
              </a:rPr>
              <a:t>1. Dane (Entity)</a:t>
            </a:r>
          </a:p>
          <a:p>
            <a:r>
              <a:rPr lang="en-US" sz="1600" dirty="0" err="1">
                <a:solidFill>
                  <a:srgbClr val="000000"/>
                </a:solidFill>
              </a:rPr>
              <a:t>Reprezentują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kluczowe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informacje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obiekty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które</a:t>
            </a:r>
            <a:r>
              <a:rPr lang="en-US" sz="1600" dirty="0">
                <a:solidFill>
                  <a:srgbClr val="000000"/>
                </a:solidFill>
              </a:rPr>
              <a:t> system </a:t>
            </a:r>
            <a:r>
              <a:rPr lang="en-US" sz="1600" dirty="0" err="1">
                <a:solidFill>
                  <a:srgbClr val="000000"/>
                </a:solidFill>
              </a:rPr>
              <a:t>musi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trwale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przechowywać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przetwarzać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en-US" sz="1600" dirty="0" err="1">
                <a:solidFill>
                  <a:srgbClr val="000000"/>
                </a:solidFill>
              </a:rPr>
              <a:t>Odpowiadają</a:t>
            </a:r>
            <a:r>
              <a:rPr lang="en-US" sz="1600" dirty="0">
                <a:solidFill>
                  <a:srgbClr val="000000"/>
                </a:solidFill>
              </a:rPr>
              <a:t> za </a:t>
            </a:r>
            <a:r>
              <a:rPr lang="en-US" sz="1600" dirty="0" err="1">
                <a:solidFill>
                  <a:srgbClr val="000000"/>
                </a:solidFill>
              </a:rPr>
              <a:t>modelowanie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pojęć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dziedzinowych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takich</a:t>
            </a:r>
            <a:r>
              <a:rPr lang="en-US" sz="1600" dirty="0">
                <a:solidFill>
                  <a:srgbClr val="000000"/>
                </a:solidFill>
              </a:rPr>
              <a:t> jak “</a:t>
            </a:r>
            <a:r>
              <a:rPr lang="en-US" sz="1600" dirty="0" err="1">
                <a:solidFill>
                  <a:srgbClr val="000000"/>
                </a:solidFill>
              </a:rPr>
              <a:t>Pracownik</a:t>
            </a:r>
            <a:r>
              <a:rPr lang="en-US" sz="1600" dirty="0">
                <a:solidFill>
                  <a:srgbClr val="000000"/>
                </a:solidFill>
              </a:rPr>
              <a:t>”, “</a:t>
            </a:r>
            <a:r>
              <a:rPr lang="en-US" sz="1600" dirty="0" err="1">
                <a:solidFill>
                  <a:srgbClr val="000000"/>
                </a:solidFill>
              </a:rPr>
              <a:t>Urządzenie</a:t>
            </a:r>
            <a:r>
              <a:rPr lang="en-US" sz="1600" dirty="0">
                <a:solidFill>
                  <a:srgbClr val="000000"/>
                </a:solidFill>
              </a:rPr>
              <a:t>” </a:t>
            </a:r>
            <a:r>
              <a:rPr lang="en-US" sz="1600" dirty="0" err="1">
                <a:solidFill>
                  <a:srgbClr val="000000"/>
                </a:solidFill>
              </a:rPr>
              <a:t>czy</a:t>
            </a:r>
            <a:r>
              <a:rPr lang="en-US" sz="1600" dirty="0">
                <a:solidFill>
                  <a:srgbClr val="000000"/>
                </a:solidFill>
              </a:rPr>
              <a:t> “</a:t>
            </a:r>
            <a:r>
              <a:rPr lang="en-US" sz="1600" dirty="0" err="1">
                <a:solidFill>
                  <a:srgbClr val="000000"/>
                </a:solidFill>
              </a:rPr>
              <a:t>Wniosek</a:t>
            </a:r>
            <a:r>
              <a:rPr lang="en-US" sz="1600" dirty="0">
                <a:solidFill>
                  <a:srgbClr val="000000"/>
                </a:solidFill>
              </a:rPr>
              <a:t>”, </a:t>
            </a:r>
            <a:r>
              <a:rPr lang="en-US" sz="1600" dirty="0" err="1">
                <a:solidFill>
                  <a:srgbClr val="000000"/>
                </a:solidFill>
              </a:rPr>
              <a:t>zachowując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swój</a:t>
            </a:r>
            <a:r>
              <a:rPr lang="en-US" sz="1600" dirty="0">
                <a:solidFill>
                  <a:srgbClr val="000000"/>
                </a:solidFill>
              </a:rPr>
              <a:t> stan </a:t>
            </a:r>
            <a:r>
              <a:rPr lang="en-US" sz="1600" dirty="0" err="1">
                <a:solidFill>
                  <a:srgbClr val="000000"/>
                </a:solidFill>
              </a:rPr>
              <a:t>niezależnie</a:t>
            </a:r>
            <a:r>
              <a:rPr lang="en-US" sz="1600" dirty="0">
                <a:solidFill>
                  <a:srgbClr val="000000"/>
                </a:solidFill>
              </a:rPr>
              <a:t> od </a:t>
            </a:r>
            <a:r>
              <a:rPr lang="en-US" sz="1600" dirty="0" err="1">
                <a:solidFill>
                  <a:srgbClr val="000000"/>
                </a:solidFill>
              </a:rPr>
              <a:t>przebiegu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konkretnych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procesów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  <a:p>
            <a:endParaRPr lang="en-US" sz="1600" dirty="0">
              <a:solidFill>
                <a:srgbClr val="000000"/>
              </a:solidFill>
            </a:endParaRPr>
          </a:p>
          <a:p>
            <a:r>
              <a:rPr lang="en-US" sz="1600" b="1" dirty="0">
                <a:solidFill>
                  <a:srgbClr val="000000"/>
                </a:solidFill>
              </a:rPr>
              <a:t>2. </a:t>
            </a:r>
            <a:r>
              <a:rPr lang="en-US" sz="1600" b="1" dirty="0" err="1">
                <a:solidFill>
                  <a:srgbClr val="000000"/>
                </a:solidFill>
              </a:rPr>
              <a:t>Interfejsy</a:t>
            </a:r>
            <a:r>
              <a:rPr lang="en-US" sz="1600" b="1" dirty="0">
                <a:solidFill>
                  <a:srgbClr val="000000"/>
                </a:solidFill>
              </a:rPr>
              <a:t> (Boundary)</a:t>
            </a:r>
          </a:p>
          <a:p>
            <a:r>
              <a:rPr lang="en-US" sz="1600" dirty="0" err="1">
                <a:solidFill>
                  <a:srgbClr val="000000"/>
                </a:solidFill>
              </a:rPr>
              <a:t>Stanowią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punkt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styku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systemu</a:t>
            </a:r>
            <a:r>
              <a:rPr lang="en-US" sz="1600" dirty="0">
                <a:solidFill>
                  <a:srgbClr val="000000"/>
                </a:solidFill>
              </a:rPr>
              <a:t> z </a:t>
            </a:r>
            <a:r>
              <a:rPr lang="en-US" sz="1600" dirty="0" err="1">
                <a:solidFill>
                  <a:srgbClr val="000000"/>
                </a:solidFill>
              </a:rPr>
              <a:t>otoczeniem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zewnętrznym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czyli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aktorami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ludzkimi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lub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innymi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systemami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en-US" sz="1600" dirty="0" err="1">
                <a:solidFill>
                  <a:srgbClr val="000000"/>
                </a:solidFill>
              </a:rPr>
              <a:t>Odpowiadają</a:t>
            </a:r>
            <a:r>
              <a:rPr lang="en-US" sz="1600" dirty="0">
                <a:solidFill>
                  <a:srgbClr val="000000"/>
                </a:solidFill>
              </a:rPr>
              <a:t> za </a:t>
            </a:r>
            <a:r>
              <a:rPr lang="en-US" sz="1600" dirty="0" err="1">
                <a:solidFill>
                  <a:srgbClr val="000000"/>
                </a:solidFill>
              </a:rPr>
              <a:t>prezentację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danych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użytkownikowi</a:t>
            </a:r>
            <a:r>
              <a:rPr lang="en-US" sz="1600" dirty="0">
                <a:solidFill>
                  <a:srgbClr val="000000"/>
                </a:solidFill>
              </a:rPr>
              <a:t> (np. “</a:t>
            </a:r>
            <a:r>
              <a:rPr lang="en-US" sz="1600" dirty="0" err="1">
                <a:solidFill>
                  <a:srgbClr val="000000"/>
                </a:solidFill>
              </a:rPr>
              <a:t>FormularzPrac_PobierzDane</a:t>
            </a:r>
            <a:r>
              <a:rPr lang="en-US" sz="1600" dirty="0">
                <a:solidFill>
                  <a:srgbClr val="000000"/>
                </a:solidFill>
              </a:rPr>
              <a:t>”) </a:t>
            </a:r>
            <a:r>
              <a:rPr lang="en-US" sz="1600" dirty="0" err="1">
                <a:solidFill>
                  <a:srgbClr val="000000"/>
                </a:solidFill>
              </a:rPr>
              <a:t>oraz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przekazywanie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poleceń</a:t>
            </a:r>
            <a:r>
              <a:rPr lang="en-US" sz="1600" dirty="0">
                <a:solidFill>
                  <a:srgbClr val="000000"/>
                </a:solidFill>
              </a:rPr>
              <a:t> z </a:t>
            </a:r>
            <a:r>
              <a:rPr lang="en-US" sz="1600" dirty="0" err="1">
                <a:solidFill>
                  <a:srgbClr val="000000"/>
                </a:solidFill>
              </a:rPr>
              <a:t>zewnątrz</a:t>
            </a:r>
            <a:r>
              <a:rPr lang="en-US" sz="1600" dirty="0">
                <a:solidFill>
                  <a:srgbClr val="000000"/>
                </a:solidFill>
              </a:rPr>
              <a:t> do </a:t>
            </a:r>
            <a:r>
              <a:rPr lang="en-US" sz="1600" dirty="0" err="1">
                <a:solidFill>
                  <a:srgbClr val="000000"/>
                </a:solidFill>
              </a:rPr>
              <a:t>wnętrza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aplikacji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  <a:p>
            <a:endParaRPr lang="en-US" sz="1600" dirty="0">
              <a:solidFill>
                <a:srgbClr val="000000"/>
              </a:solidFill>
            </a:endParaRPr>
          </a:p>
          <a:p>
            <a:r>
              <a:rPr lang="en-US" sz="1600" b="1" dirty="0">
                <a:solidFill>
                  <a:srgbClr val="000000"/>
                </a:solidFill>
              </a:rPr>
              <a:t>3. Logika </a:t>
            </a:r>
            <a:r>
              <a:rPr lang="en-US" sz="1600" b="1" dirty="0" err="1">
                <a:solidFill>
                  <a:srgbClr val="000000"/>
                </a:solidFill>
              </a:rPr>
              <a:t>Aplikacji</a:t>
            </a:r>
            <a:r>
              <a:rPr lang="en-US" sz="1600" b="1" dirty="0">
                <a:solidFill>
                  <a:srgbClr val="000000"/>
                </a:solidFill>
              </a:rPr>
              <a:t> (Control)</a:t>
            </a:r>
          </a:p>
          <a:p>
            <a:r>
              <a:rPr lang="en-US" sz="1600" dirty="0" err="1">
                <a:solidFill>
                  <a:srgbClr val="000000"/>
                </a:solidFill>
              </a:rPr>
              <a:t>Pełnią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rolę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sterującą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systemu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koordynując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realizację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konkretnych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przypadków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użycia</a:t>
            </a:r>
            <a:r>
              <a:rPr lang="en-US" sz="1600" dirty="0">
                <a:solidFill>
                  <a:srgbClr val="000000"/>
                </a:solidFill>
              </a:rPr>
              <a:t>. </a:t>
            </a:r>
            <a:r>
              <a:rPr lang="en-US" sz="1600" dirty="0" err="1">
                <a:solidFill>
                  <a:srgbClr val="000000"/>
                </a:solidFill>
              </a:rPr>
              <a:t>Klasy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sterujące</a:t>
            </a:r>
            <a:r>
              <a:rPr lang="en-US" sz="1600" dirty="0">
                <a:solidFill>
                  <a:srgbClr val="000000"/>
                </a:solidFill>
              </a:rPr>
              <a:t> jak np. “</a:t>
            </a:r>
            <a:r>
              <a:rPr lang="en-US" sz="1600" dirty="0" err="1">
                <a:solidFill>
                  <a:srgbClr val="000000"/>
                </a:solidFill>
              </a:rPr>
              <a:t>Ster_ZłóżWniosek</a:t>
            </a:r>
            <a:r>
              <a:rPr lang="en-US" sz="1600" dirty="0">
                <a:solidFill>
                  <a:srgbClr val="000000"/>
                </a:solidFill>
              </a:rPr>
              <a:t>” </a:t>
            </a:r>
            <a:r>
              <a:rPr lang="en-US" sz="1600" dirty="0" err="1">
                <a:solidFill>
                  <a:srgbClr val="000000"/>
                </a:solidFill>
              </a:rPr>
              <a:t>zarządzają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przepływem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informacji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pomiędzy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interfejsami</a:t>
            </a:r>
            <a:r>
              <a:rPr lang="en-US" sz="1600" dirty="0">
                <a:solidFill>
                  <a:srgbClr val="000000"/>
                </a:solidFill>
              </a:rPr>
              <a:t> a </a:t>
            </a:r>
            <a:r>
              <a:rPr lang="en-US" sz="1600" dirty="0" err="1">
                <a:solidFill>
                  <a:srgbClr val="000000"/>
                </a:solidFill>
              </a:rPr>
              <a:t>danymi</a:t>
            </a:r>
            <a:r>
              <a:rPr lang="en-US" sz="1600" dirty="0">
                <a:solidFill>
                  <a:srgbClr val="000000"/>
                </a:solidFill>
              </a:rPr>
              <a:t>, </a:t>
            </a:r>
            <a:r>
              <a:rPr lang="en-US" sz="1600" dirty="0" err="1">
                <a:solidFill>
                  <a:srgbClr val="000000"/>
                </a:solidFill>
              </a:rPr>
              <a:t>kontrolując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logikę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biznesową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i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kolejność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wykonywanych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operacji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84C292EA-9F54-29B9-506A-D7E6BFE1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UCS:001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Złóż wniosek o wydanie sprzętu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85155-E4B0-BC09-9A9B-4D859E308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16909"/>
            <a:ext cx="7772400" cy="322418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4FE28-0695-E91E-B227-BFCDF035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9BA99022-BA22-0231-6B9B-E9B1433EB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UCS:004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Zarządzaj swoimi wnioskami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CA9EBA-DF38-C032-960E-7C35A615C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36" y="1744495"/>
            <a:ext cx="6838528" cy="4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207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547D6-D0B9-D151-27D1-5E3E4D476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AEC8A243-33A5-4B02-61C0-70ED948E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UCS:005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Oceń zasadność wniosku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DA1CF4-8AE3-09BB-6C33-D6716E723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6443"/>
            <a:ext cx="7772400" cy="32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26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2368-62C0-C972-DBAC-0775E6732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63A2FB30-3651-BA05-8CC9-3400166F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UCS:006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Zweryfikuj zasadność i autoryzuj wniosek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304C34-F451-28AA-7B1C-AC4D08E9B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8800"/>
            <a:ext cx="7772400" cy="414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50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F368-F28D-1EA0-8BF2-821CB4DC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DF9CA2CB-014C-1407-16F4-48B0CDD4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UCS:007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Wydaj sprzęt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D14727-68AF-B622-8D33-7BABAA40C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4" y="2060848"/>
            <a:ext cx="7772400" cy="313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39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2EE3D-4128-4F1C-34EE-13F12764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BCA2CFD4-9C84-F508-36FD-7B47E084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UCS:002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Zainicjuj rozliczenie odchodzącego pracownika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8CA7D5-B805-43B2-B27E-28CDAB394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1968"/>
            <a:ext cx="7772400" cy="259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90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CFC-3023-1749-C3AF-1EA0127A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99A4CC3F-C50A-E47C-DC57-AA80D7B1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UCS:008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Przekaż sprzęt do zwrotu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524FFF-DC3F-549B-1F8A-58CDF5038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97020"/>
            <a:ext cx="7772400" cy="366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362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1EA6-9E27-21E5-BBB1-E8AC3FE5D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4F6F176A-C663-8964-8979-C5E36228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UCS:009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Rozlicz zwrot i zaktualizuj bazę sprzętów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E59974-7E6D-FA6B-D777-482C5174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9063"/>
            <a:ext cx="7772400" cy="29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71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71ADF-1DD6-ED14-18C3-F63D1EF84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5991EDEA-3CB5-46D6-0DCD-4C0EFE92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UCS:009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Rozlicz zwrot i zaktualizuj bazę sprzętów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76B47A-6AD2-45D5-F948-9F6E17487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29063"/>
            <a:ext cx="7772400" cy="299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09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3373E-3B7B-E331-8869-F0B359CF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BAA842A3-185B-5BBC-F68A-8B90FE983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UCS:010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Dezaktywuj konto w systemie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438186-DFB4-34F8-9139-93E3F7838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6427"/>
            <a:ext cx="7772400" cy="316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148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C25F9-9C69-8C83-41EA-853BD56B5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C4A3ACC8-864C-CB97-1707-9769D5BB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UCS:003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Zarejestruj nowe urządzenie w systemie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B4FE4E-2B96-8C1F-AC7C-244CC32F7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1893"/>
            <a:ext cx="7772400" cy="243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493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D9CCD-539F-0314-C52F-FF639E63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79E96AF0-0472-097D-0D31-15E0A72A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UCS:011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Zarządzaj atrybutami i historią w systemie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67F848-40AC-D2E0-91BA-82CD876BE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12738"/>
            <a:ext cx="7772400" cy="383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46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EE08E-A9EA-CA72-920D-C4F9CF51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3015CD0D-555D-6B17-6995-CEEB8E6D2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UCS:012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Wygeneruj raporty i statystyki analityczne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BACB44-9AAC-7666-82ED-A5F25230F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22649"/>
            <a:ext cx="7772400" cy="381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651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53081-D3FE-D675-D02C-AF32029CD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62260D35-71A9-143E-FE02-B5F0188B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UCS:013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Wyświetl panel zasobów użytkownika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700F74-31A1-8403-0CDB-5CA0D296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5611"/>
            <a:ext cx="7772400" cy="334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621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B6347-C4CD-23CC-2AFF-A48C81E9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3B205186-A598-E8D4-644B-3F8D6F0C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UCS:014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Pobierz dane uwierzytelniające i strukturę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0D6515-7DF0-78CF-EE64-96C93A76C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50959"/>
            <a:ext cx="7772400" cy="375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753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A5681-F247-FBC0-6D8A-70C279FA6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57336630-D64D-E4D9-FBEF-03E29ECC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836712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sekwencji dla realizacji przypadku użycia UCS:015</a:t>
            </a:r>
            <a:br>
              <a:rPr lang="pl-PL" sz="24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– Wygeneruj protokoły PDF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B55853-CD32-9325-DD2E-78D97ADAC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48824"/>
            <a:ext cx="7772400" cy="296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48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">
            <a:extLst>
              <a:ext uri="{FF2B5EF4-FFF2-40B4-BE49-F238E27FC236}">
                <a16:creationId xmlns:a16="http://schemas.microsoft.com/office/drawing/2014/main" id="{45DD24F5-3B30-F132-65DF-78AA47E3A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00063"/>
            <a:ext cx="7772400" cy="1431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 algn="ctr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pl-PL" sz="4400" dirty="0">
                <a:solidFill>
                  <a:schemeClr val="accent1">
                    <a:lumMod val="75000"/>
                  </a:schemeClr>
                </a:solidFill>
                <a:latin typeface="+mj-lt"/>
              </a:rPr>
              <a:t>Projektowanie systemu xxx</a:t>
            </a:r>
          </a:p>
        </p:txBody>
      </p:sp>
      <p:sp>
        <p:nvSpPr>
          <p:cNvPr id="36867" name="Text Box 2">
            <a:extLst>
              <a:ext uri="{FF2B5EF4-FFF2-40B4-BE49-F238E27FC236}">
                <a16:creationId xmlns:a16="http://schemas.microsoft.com/office/drawing/2014/main" id="{54A1E71B-0F9B-F04D-C482-CE76203F1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2286000"/>
            <a:ext cx="8143875" cy="411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</a:pPr>
            <a:r>
              <a:rPr lang="pl-PL" sz="2800" b="1" dirty="0">
                <a:solidFill>
                  <a:schemeClr val="tx1"/>
                </a:solidFill>
              </a:rPr>
              <a:t>Nazwa projektu: </a:t>
            </a:r>
            <a:r>
              <a:rPr lang="pl-PL" sz="2800" dirty="0">
                <a:solidFill>
                  <a:schemeClr val="tx1"/>
                </a:solidFill>
              </a:rPr>
              <a:t>System Helpdesk.</a:t>
            </a:r>
          </a:p>
          <a:p>
            <a:pPr eaLnBrk="1" hangingPunct="1">
              <a:spcBef>
                <a:spcPts val="600"/>
              </a:spcBef>
            </a:pPr>
            <a:endParaRPr lang="pl-PL" sz="2800" dirty="0">
              <a:solidFill>
                <a:srgbClr val="00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pl-PL" sz="2800" b="1" dirty="0">
                <a:solidFill>
                  <a:srgbClr val="000000"/>
                </a:solidFill>
              </a:rPr>
              <a:t>Zespół wykonawcy w składzie: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Wiktor Konieczny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Kamil Sobierajski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pl-PL" sz="2800" dirty="0">
                <a:solidFill>
                  <a:srgbClr val="000000"/>
                </a:solidFill>
              </a:rPr>
              <a:t>Kamil Urbaś </a:t>
            </a:r>
            <a:r>
              <a:rPr lang="pl-PL" sz="2800" i="1" dirty="0">
                <a:solidFill>
                  <a:srgbClr val="000000"/>
                </a:solidFill>
              </a:rPr>
              <a:t>(Kierownik Zespołu)</a:t>
            </a:r>
          </a:p>
          <a:p>
            <a:pPr eaLnBrk="1" hangingPunct="1">
              <a:spcBef>
                <a:spcPts val="600"/>
              </a:spcBef>
            </a:pPr>
            <a:br>
              <a:rPr lang="pl-PL" sz="2800" dirty="0">
                <a:solidFill>
                  <a:srgbClr val="000000"/>
                </a:solidFill>
              </a:rPr>
            </a:br>
            <a:r>
              <a:rPr lang="pl-PL" sz="2800" dirty="0">
                <a:solidFill>
                  <a:srgbClr val="000000"/>
                </a:solidFill>
              </a:rPr>
              <a:t>		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3E75-510D-90E9-2788-0FFEE3BD7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1E27717E-58E7-5E8D-F749-E290781E9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klas projektowych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45C491-D136-7F45-DFC2-B784E5C6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68551"/>
            <a:ext cx="7772400" cy="392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359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43909E35-3F7D-61E8-0738-087677D8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klas projektowych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1A5065-F923-4D11-8F49-F988342D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4784"/>
            <a:ext cx="7772400" cy="428275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563C4-2C29-41F4-1EAC-3972EDD2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79DFF043-6069-0215-FEF5-72EE3464F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klas projektowych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C929E7-11F8-75C4-94F0-BF0678B8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76100"/>
            <a:ext cx="7772400" cy="430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3169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4CF7A204-1B9E-AED8-D557-5972E3736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Opis klas projektowych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E79389-64CC-BF6A-3F9F-D5F372E051A8}"/>
              </a:ext>
            </a:extLst>
          </p:cNvPr>
          <p:cNvSpPr txBox="1"/>
          <p:nvPr/>
        </p:nvSpPr>
        <p:spPr>
          <a:xfrm>
            <a:off x="811034" y="1343770"/>
            <a:ext cx="735806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chemeClr val="tx1"/>
                </a:solidFill>
              </a:rPr>
              <a:t>Klasy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projektowe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zostały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zdefiniowane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podstawie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klas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analitycznych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przy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zastosowaniu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wzorca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architektury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Boundary-Control-Entity (BCE)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zapewniając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separację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odpowiedzialności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poprzez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podzielenie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na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trzy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logiczne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warstwy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228600" indent="-228600">
              <a:buAutoNum type="arabicPeriod"/>
            </a:pPr>
            <a:r>
              <a:rPr lang="en-US" sz="1600" b="1" dirty="0" err="1">
                <a:solidFill>
                  <a:schemeClr val="tx1"/>
                </a:solidFill>
              </a:rPr>
              <a:t>Warstwa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danych</a:t>
            </a:r>
            <a:r>
              <a:rPr lang="en-US" sz="1600" b="1" dirty="0">
                <a:solidFill>
                  <a:schemeClr val="tx1"/>
                </a:solidFill>
              </a:rPr>
              <a:t> («entity»):</a:t>
            </a:r>
          </a:p>
          <a:p>
            <a:pPr marL="971550" lvl="1" indent="-2286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Reprezentuje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obiekty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trwałe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systemu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których</a:t>
            </a:r>
            <a:r>
              <a:rPr lang="en-US" sz="1600" dirty="0">
                <a:solidFill>
                  <a:schemeClr val="tx1"/>
                </a:solidFill>
              </a:rPr>
              <a:t> stan jest </a:t>
            </a:r>
            <a:r>
              <a:rPr lang="en-US" sz="1600" dirty="0" err="1">
                <a:solidFill>
                  <a:schemeClr val="tx1"/>
                </a:solidFill>
              </a:rPr>
              <a:t>przechowywany</a:t>
            </a:r>
            <a:r>
              <a:rPr lang="en-US" sz="1600" dirty="0">
                <a:solidFill>
                  <a:schemeClr val="tx1"/>
                </a:solidFill>
              </a:rPr>
              <a:t> w </a:t>
            </a:r>
            <a:r>
              <a:rPr lang="en-US" sz="1600" dirty="0" err="1">
                <a:solidFill>
                  <a:schemeClr val="tx1"/>
                </a:solidFill>
              </a:rPr>
              <a:t>bazie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danych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971550" lvl="1" indent="-2286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Klasy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te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modelują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kluczowe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informacje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dziedzinowe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takie</a:t>
            </a:r>
            <a:r>
              <a:rPr lang="en-US" sz="1600" dirty="0">
                <a:solidFill>
                  <a:schemeClr val="tx1"/>
                </a:solidFill>
              </a:rPr>
              <a:t> jak </a:t>
            </a:r>
            <a:r>
              <a:rPr lang="en-US" sz="1600" i="1" dirty="0" err="1">
                <a:solidFill>
                  <a:schemeClr val="tx1"/>
                </a:solidFill>
              </a:rPr>
              <a:t>Urządzenie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i="1" dirty="0" err="1">
                <a:solidFill>
                  <a:schemeClr val="tx1"/>
                </a:solidFill>
              </a:rPr>
              <a:t>Pracownik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i="1" dirty="0" err="1">
                <a:solidFill>
                  <a:schemeClr val="tx1"/>
                </a:solidFill>
              </a:rPr>
              <a:t>Wniosek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czy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Protokół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zwrotu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sz="1600" b="1" dirty="0" err="1">
                <a:solidFill>
                  <a:schemeClr val="tx1"/>
                </a:solidFill>
              </a:rPr>
              <a:t>Warstwa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interfejsu</a:t>
            </a:r>
            <a:r>
              <a:rPr lang="en-US" sz="1600" b="1" dirty="0">
                <a:solidFill>
                  <a:schemeClr val="tx1"/>
                </a:solidFill>
              </a:rPr>
              <a:t> («boundary» / «</a:t>
            </a:r>
            <a:r>
              <a:rPr lang="en-US" sz="1600" b="1" dirty="0" err="1">
                <a:solidFill>
                  <a:schemeClr val="tx1"/>
                </a:solidFill>
              </a:rPr>
              <a:t>asp_page</a:t>
            </a:r>
            <a:r>
              <a:rPr lang="en-US" sz="1600" b="1" dirty="0">
                <a:solidFill>
                  <a:schemeClr val="tx1"/>
                </a:solidFill>
              </a:rPr>
              <a:t>»):</a:t>
            </a:r>
          </a:p>
          <a:p>
            <a:pPr marL="971550" lvl="1" indent="-2286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Odpowiada</a:t>
            </a:r>
            <a:r>
              <a:rPr lang="en-US" sz="1600" dirty="0">
                <a:solidFill>
                  <a:schemeClr val="tx1"/>
                </a:solidFill>
              </a:rPr>
              <a:t> za </a:t>
            </a:r>
            <a:r>
              <a:rPr lang="en-US" sz="1600" dirty="0" err="1">
                <a:solidFill>
                  <a:schemeClr val="tx1"/>
                </a:solidFill>
              </a:rPr>
              <a:t>komunikację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między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aktorem</a:t>
            </a:r>
            <a:r>
              <a:rPr lang="en-US" sz="1600" dirty="0">
                <a:solidFill>
                  <a:schemeClr val="tx1"/>
                </a:solidFill>
              </a:rPr>
              <a:t> a </a:t>
            </a:r>
            <a:r>
              <a:rPr lang="en-US" sz="1600" dirty="0" err="1">
                <a:solidFill>
                  <a:schemeClr val="tx1"/>
                </a:solidFill>
              </a:rPr>
              <a:t>systemem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97155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 </a:t>
            </a:r>
            <a:r>
              <a:rPr lang="en-US" sz="1600" dirty="0" err="1">
                <a:solidFill>
                  <a:schemeClr val="tx1"/>
                </a:solidFill>
              </a:rPr>
              <a:t>implementacji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są</a:t>
            </a:r>
            <a:r>
              <a:rPr lang="en-US" sz="1600" dirty="0">
                <a:solidFill>
                  <a:schemeClr val="tx1"/>
                </a:solidFill>
              </a:rPr>
              <a:t> to </a:t>
            </a:r>
            <a:r>
              <a:rPr lang="en-US" sz="1600" dirty="0" err="1">
                <a:solidFill>
                  <a:schemeClr val="tx1"/>
                </a:solidFill>
              </a:rPr>
              <a:t>widoki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formularze</a:t>
            </a:r>
            <a:r>
              <a:rPr lang="en-US" sz="1600" dirty="0">
                <a:solidFill>
                  <a:schemeClr val="tx1"/>
                </a:solidFill>
              </a:rPr>
              <a:t>, np. </a:t>
            </a:r>
            <a:r>
              <a:rPr lang="en-US" sz="1600" i="1" dirty="0" err="1">
                <a:solidFill>
                  <a:schemeClr val="tx1"/>
                </a:solidFill>
              </a:rPr>
              <a:t>FormularzPrac_ZłóżWniosek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lub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FormularzSpecDesk_WydajSprzęt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sz="1600" b="1" dirty="0" err="1">
                <a:solidFill>
                  <a:schemeClr val="tx1"/>
                </a:solidFill>
              </a:rPr>
              <a:t>Warstwa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b="1" dirty="0" err="1">
                <a:solidFill>
                  <a:schemeClr val="tx1"/>
                </a:solidFill>
              </a:rPr>
              <a:t>logiki</a:t>
            </a:r>
            <a:r>
              <a:rPr lang="en-US" sz="1600" b="1" dirty="0">
                <a:solidFill>
                  <a:schemeClr val="tx1"/>
                </a:solidFill>
              </a:rPr>
              <a:t> («control»):</a:t>
            </a:r>
          </a:p>
          <a:p>
            <a:pPr marL="971550" lvl="1" indent="-2286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Pełni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rolę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sterownika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procesów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biznesowych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  <a:p>
            <a:pPr marL="971550" lvl="1" indent="-22860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tx1"/>
                </a:solidFill>
              </a:rPr>
              <a:t>Zarządza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przepływem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informacji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realizuje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operacje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systemowe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dirty="0" err="1">
                <a:solidFill>
                  <a:schemeClr val="tx1"/>
                </a:solidFill>
              </a:rPr>
              <a:t>takie</a:t>
            </a:r>
            <a:r>
              <a:rPr lang="en-US" sz="1600" dirty="0">
                <a:solidFill>
                  <a:schemeClr val="tx1"/>
                </a:solidFill>
              </a:rPr>
              <a:t> jak </a:t>
            </a:r>
            <a:r>
              <a:rPr lang="en-US" sz="1600" i="1" dirty="0" err="1">
                <a:solidFill>
                  <a:schemeClr val="tx1"/>
                </a:solidFill>
              </a:rPr>
              <a:t>Ster_WydajSprzęt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i="1" dirty="0" err="1">
                <a:solidFill>
                  <a:schemeClr val="tx1"/>
                </a:solidFill>
              </a:rPr>
              <a:t>Ster_RozliczZwrot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czy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Ster_DezaktywujKonto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7851EFF5-8270-F2EC-1389-71DF48E3A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komponentów systemu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1312E9-5BB2-0BFC-2F1D-B6427C77A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06" y="2441181"/>
            <a:ext cx="8523188" cy="197563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985CB902-7118-152D-25C0-68F169864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Diagram wdrożenia systemu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4FE535-2FB6-61C5-8F96-33C29FF86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84784"/>
            <a:ext cx="7772400" cy="449849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6870336B-8639-A289-7877-AD46EA9C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Kod systemu: jako wynik transformacji (Przykład - SQL)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0F66D0-A00B-5257-01D2-8110B2E4E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756" y="1196752"/>
            <a:ext cx="6478488" cy="551871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2B3E0-7DE4-1E2A-23A4-C7389E60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2719532A-7D05-FF90-7278-54470C62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3" y="428625"/>
            <a:ext cx="7358062" cy="503238"/>
          </a:xfrm>
        </p:spPr>
        <p:txBody>
          <a:bodyPr/>
          <a:lstStyle/>
          <a:p>
            <a:pPr eaLnBrk="1" hangingPunct="1">
              <a:defRPr/>
            </a:pPr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Kod systemu: jako wynik transformacji (Przykład - C#)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03DCBA-54F1-935E-5A8C-AA5B6DA8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576" y="1548411"/>
            <a:ext cx="3612847" cy="489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92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rzepływ">
  <a:themeElements>
    <a:clrScheme name="Przepły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Przepły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rzepły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rzepły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Przepły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1830</TotalTime>
  <Words>2089</Words>
  <Application>Microsoft Macintosh PowerPoint</Application>
  <PresentationFormat>On-screen Show (4:3)</PresentationFormat>
  <Paragraphs>323</Paragraphs>
  <Slides>55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Constantia</vt:lpstr>
      <vt:lpstr>Times New Roman</vt:lpstr>
      <vt:lpstr>Wingdings 2</vt:lpstr>
      <vt:lpstr>Przepływ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przypadków użycia</vt:lpstr>
      <vt:lpstr>Specyfikacja aktorów</vt:lpstr>
      <vt:lpstr>Specyfikacja aktorów</vt:lpstr>
      <vt:lpstr>Diagram (głównych) przypadków użycia</vt:lpstr>
      <vt:lpstr>Diagram (głównych) przypadków użycia</vt:lpstr>
      <vt:lpstr>Diagram (głównych) przypadków użycia</vt:lpstr>
      <vt:lpstr>Scenariusz główny dla przypadku użycia UCS:001</vt:lpstr>
      <vt:lpstr>Scenariusz alternatywny dla przypadku użycia UCS:001</vt:lpstr>
      <vt:lpstr>Diagram aktywności dla przypadku użycia UCS:001</vt:lpstr>
      <vt:lpstr>PowerPoint Presentation</vt:lpstr>
      <vt:lpstr>Diagram realizacji przypadków użycia</vt:lpstr>
      <vt:lpstr>Diagram realizacji przypadków użycia</vt:lpstr>
      <vt:lpstr>Diagram realizacji przypadków użycia</vt:lpstr>
      <vt:lpstr>Diagram VOPC dla realizacji przypadku użycia UCS:007</vt:lpstr>
      <vt:lpstr>Definicje klas analitycznych (opis)</vt:lpstr>
      <vt:lpstr>Diagram sekwencji dla realizacji przypadku użycia UCS:001 – Złóż wniosek o wydanie sprzętu</vt:lpstr>
      <vt:lpstr>Diagram sekwencji dla realizacji przypadku użycia UCS:004 – Zarządzaj swoimi wnioskami</vt:lpstr>
      <vt:lpstr>Diagram sekwencji dla realizacji przypadku użycia UCS:005 – Oceń zasadność wniosku</vt:lpstr>
      <vt:lpstr>Diagram sekwencji dla realizacji przypadku użycia UCS:006 – Zweryfikuj zasadność i autoryzuj wniosek</vt:lpstr>
      <vt:lpstr>Diagram sekwencji dla realizacji przypadku użycia UCS:007 – Wydaj sprzęt</vt:lpstr>
      <vt:lpstr>Diagram sekwencji dla realizacji przypadku użycia UCS:002 – Zainicjuj rozliczenie odchodzącego pracownika</vt:lpstr>
      <vt:lpstr>Diagram sekwencji dla realizacji przypadku użycia UCS:008 – Przekaż sprzęt do zwrotu</vt:lpstr>
      <vt:lpstr>Diagram sekwencji dla realizacji przypadku użycia UCS:009 – Rozlicz zwrot i zaktualizuj bazę sprzętów</vt:lpstr>
      <vt:lpstr>Diagram sekwencji dla realizacji przypadku użycia UCS:009 – Rozlicz zwrot i zaktualizuj bazę sprzętów</vt:lpstr>
      <vt:lpstr>Diagram sekwencji dla realizacji przypadku użycia UCS:010 – Dezaktywuj konto w systemie</vt:lpstr>
      <vt:lpstr>Diagram sekwencji dla realizacji przypadku użycia UCS:003 – Zarejestruj nowe urządzenie w systemie</vt:lpstr>
      <vt:lpstr>Diagram sekwencji dla realizacji przypadku użycia UCS:011 – Zarządzaj atrybutami i historią w systemie</vt:lpstr>
      <vt:lpstr>Diagram sekwencji dla realizacji przypadku użycia UCS:012 – Wygeneruj raporty i statystyki analityczne</vt:lpstr>
      <vt:lpstr>Diagram sekwencji dla realizacji przypadku użycia UCS:013 – Wyświetl panel zasobów użytkownika</vt:lpstr>
      <vt:lpstr>Diagram sekwencji dla realizacji przypadku użycia UCS:014 – Pobierz dane uwierzytelniające i strukturę</vt:lpstr>
      <vt:lpstr>Diagram sekwencji dla realizacji przypadku użycia UCS:015 – Wygeneruj protokoły PDF</vt:lpstr>
      <vt:lpstr>PowerPoint Presentation</vt:lpstr>
      <vt:lpstr>Diagram klas projektowych</vt:lpstr>
      <vt:lpstr>Diagram klas projektowych</vt:lpstr>
      <vt:lpstr>Diagram klas projektowych</vt:lpstr>
      <vt:lpstr>Opis klas projektowych</vt:lpstr>
      <vt:lpstr>Diagram komponentów systemu</vt:lpstr>
      <vt:lpstr>Diagram wdrożenia systemu</vt:lpstr>
      <vt:lpstr>Kod systemu: jako wynik transformacji (Przykład - SQL)</vt:lpstr>
      <vt:lpstr>Kod systemu: jako wynik transformacji (Przykład - C#)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astasiak</dc:creator>
  <cp:lastModifiedBy>Sobierajski Kamil (STUD)</cp:lastModifiedBy>
  <cp:revision>222</cp:revision>
  <cp:lastPrinted>1601-01-01T00:00:00Z</cp:lastPrinted>
  <dcterms:created xsi:type="dcterms:W3CDTF">1601-01-01T00:00:00Z</dcterms:created>
  <dcterms:modified xsi:type="dcterms:W3CDTF">2026-04-05T22:59:45Z</dcterms:modified>
</cp:coreProperties>
</file>